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4" r:id="rId10"/>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Artify is a digital art gallery and shop built with Flutter, Provider and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one sentence what Artify is, then what users can do. Mention it is an individual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feature groups quickly; the demo will show them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visual tour: gallery, painting details with comments, the cart, and the Discover screen that uses the public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Validators show clear messages, the same form handles add and edit, delete asks for confirmation, and errors such as no internet show a friendly message with Retry.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layers: the UI never talks to the backend directly. Screens read and update state through providers, providers call services, and services talk to Supabase, SharedPreferences and the public REST API. Separating them keeps the code organised and easy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in this order. Demo account is ready. A backup screen recording is available in case the network or emulator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doctor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0F3B"/>
        </a:solidFill>
      </p:bgPr>
    </p:bg>
    <p:spTree>
      <p:nvGrpSpPr>
        <p:cNvPr id="1" name=""/>
        <p:cNvGrpSpPr/>
        <p:nvPr/>
      </p:nvGrpSpPr>
      <p:grpSpPr>
        <a:xfrm>
          <a:off x="0" y="0"/>
          <a:ext cx="0" cy="0"/>
          <a:chOff x="0" y="0"/>
          <a:chExt cx="0" cy="0"/>
        </a:xfrm>
      </p:grpSpPr>
      <p:sp>
        <p:nvSpPr>
          <p:cNvPr id="2" name="Text 0"/>
          <p:cNvSpPr txBox="1"/>
          <p:nvPr/>
        </p:nvSpPr>
        <p:spPr>
          <a:xfrm>
            <a:off x="548640" y="822960"/>
            <a:ext cx="5486400" cy="274320"/>
          </a:xfrm>
          <a:prstGeom prst="rect">
            <a:avLst/>
          </a:prstGeom>
          <a:noFill/>
          <a:ln/>
        </p:spPr>
        <p:txBody>
          <a:bodyPr wrap="square" lIns="0" tIns="0" rIns="0" bIns="0" rtlCol="0" anchor="ctr"/>
          <a:lstStyle/>
          <a:p>
            <a:pPr indent="0" marL="0">
              <a:buNone/>
            </a:pPr>
            <a:r>
              <a:rPr lang="en-US" sz="1200" b="1" spc="200" kern="0" dirty="0">
                <a:solidFill>
                  <a:srgbClr val="FFB300"/>
                </a:solidFill>
                <a:latin typeface="Calibri" pitchFamily="34" charset="0"/>
                <a:ea typeface="Calibri" pitchFamily="34" charset="-122"/>
                <a:cs typeface="Calibri" pitchFamily="34" charset="-120"/>
              </a:rPr>
              <a:t>MOBILE DEVELOPMENT USING FLUTTER  |  FINAL PROJECT</a:t>
            </a:r>
            <a:endParaRPr lang="en-US" sz="1200" dirty="0"/>
          </a:p>
        </p:txBody>
      </p:sp>
      <p:sp>
        <p:nvSpPr>
          <p:cNvPr id="3" name="Text 1"/>
          <p:cNvSpPr txBox="1"/>
          <p:nvPr/>
        </p:nvSpPr>
        <p:spPr>
          <a:xfrm>
            <a:off x="548640" y="1188720"/>
            <a:ext cx="5486400" cy="109728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Artify</a:t>
            </a:r>
            <a:endParaRPr lang="en-US" sz="6600" dirty="0"/>
          </a:p>
        </p:txBody>
      </p:sp>
      <p:sp>
        <p:nvSpPr>
          <p:cNvPr id="4" name="Text 2"/>
          <p:cNvSpPr txBox="1"/>
          <p:nvPr/>
        </p:nvSpPr>
        <p:spPr>
          <a:xfrm>
            <a:off x="548640" y="2331720"/>
            <a:ext cx="5120640" cy="731520"/>
          </a:xfrm>
          <a:prstGeom prst="rect">
            <a:avLst/>
          </a:prstGeom>
          <a:noFill/>
          <a:ln/>
        </p:spPr>
        <p:txBody>
          <a:bodyPr wrap="square" lIns="0" tIns="0" rIns="0" bIns="0" rtlCol="0" anchor="ctr"/>
          <a:lstStyle/>
          <a:p>
            <a:pPr indent="0" marL="0">
              <a:buNone/>
            </a:pPr>
            <a:r>
              <a:rPr lang="en-US" sz="2000" dirty="0">
                <a:solidFill>
                  <a:srgbClr val="D9CFF2"/>
                </a:solidFill>
                <a:latin typeface="Calibri" pitchFamily="34" charset="0"/>
                <a:ea typeface="Calibri" pitchFamily="34" charset="-122"/>
                <a:cs typeface="Calibri" pitchFamily="34" charset="-120"/>
              </a:rPr>
              <a:t>A digital art gallery &amp; shop built with Flutter and Supabase</a:t>
            </a:r>
            <a:endParaRPr lang="en-US" sz="2000" dirty="0"/>
          </a:p>
        </p:txBody>
      </p:sp>
      <p:sp>
        <p:nvSpPr>
          <p:cNvPr id="5" name="Text 3"/>
          <p:cNvSpPr txBox="1"/>
          <p:nvPr/>
        </p:nvSpPr>
        <p:spPr>
          <a:xfrm>
            <a:off x="548640" y="3566160"/>
            <a:ext cx="5120640" cy="1005840"/>
          </a:xfrm>
          <a:prstGeom prst="rect">
            <a:avLst/>
          </a:prstGeom>
          <a:noFill/>
          <a:ln/>
        </p:spPr>
        <p:txBody>
          <a:bodyPr wrap="square" lIns="0" tIns="0" rIns="0" bIns="0" rtlCol="0" anchor="ctr"/>
          <a:lstStyle/>
          <a:p>
            <a:pPr indent="0" marL="0">
              <a:spcAft>
                <a:spcPts val="400"/>
              </a:spcAft>
              <a:buNone/>
            </a:pPr>
            <a:r>
              <a:rPr lang="en-US" sz="1200" dirty="0">
                <a:solidFill>
                  <a:srgbClr val="A99BD1"/>
                </a:solidFill>
                <a:latin typeface="Calibri" pitchFamily="34" charset="0"/>
                <a:ea typeface="Calibri" pitchFamily="34" charset="-122"/>
                <a:cs typeface="Calibri" pitchFamily="34" charset="-120"/>
              </a:rPr>
              <a:t>Presented by</a:t>
            </a:r>
            <a:endParaRPr lang="en-US" sz="1200" dirty="0"/>
          </a:p>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Sgdh Elnemr</a:t>
            </a:r>
            <a:endParaRPr lang="en-US" sz="1200" dirty="0"/>
          </a:p>
        </p:txBody>
      </p:sp>
      <p:pic>
        <p:nvPicPr>
          <p:cNvPr id="6" name="Image 0" descr="/home/claude/deck/img/login.png">    </p:cNvPr>
          <p:cNvPicPr>
            <a:picLocks noChangeAspect="1"/>
          </p:cNvPicPr>
          <p:nvPr/>
        </p:nvPicPr>
        <p:blipFill>
          <a:blip r:embed="rId1"/>
          <a:stretch>
            <a:fillRect/>
          </a:stretch>
        </p:blipFill>
        <p:spPr>
          <a:xfrm>
            <a:off x="6355080" y="457200"/>
            <a:ext cx="2071185" cy="4206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FC"/>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0F3B"/>
                </a:solidFill>
                <a:latin typeface="Cambria" pitchFamily="34" charset="0"/>
                <a:ea typeface="Cambria" pitchFamily="34" charset="-122"/>
                <a:cs typeface="Cambria" pitchFamily="34" charset="-120"/>
              </a:rPr>
              <a:t>Project Overview</a:t>
            </a:r>
            <a:endParaRPr lang="en-US" sz="3200" dirty="0"/>
          </a:p>
        </p:txBody>
      </p:sp>
      <p:sp>
        <p:nvSpPr>
          <p:cNvPr id="3" name="Shape 1"/>
          <p:cNvSpPr/>
          <p:nvPr/>
        </p:nvSpPr>
        <p:spPr>
          <a:xfrm>
            <a:off x="457200" y="1371600"/>
            <a:ext cx="548640" cy="548640"/>
          </a:xfrm>
          <a:prstGeom prst="ellipse">
            <a:avLst/>
          </a:prstGeom>
          <a:solidFill>
            <a:srgbClr val="4527A0"/>
          </a:solidFill>
          <a:ln w="12700">
            <a:solidFill>
              <a:srgbClr val="4527A0"/>
            </a:solidFill>
            <a:prstDash val="solid"/>
          </a:ln>
        </p:spPr>
      </p:sp>
      <p:pic>
        <p:nvPicPr>
          <p:cNvPr id="4" name="Image 0" descr="preencoded.png">    </p:cNvPr>
          <p:cNvPicPr>
            <a:picLocks noChangeAspect="1"/>
          </p:cNvPicPr>
          <p:nvPr/>
        </p:nvPicPr>
        <p:blipFill>
          <a:blip r:embed="rId1"/>
          <a:stretch>
            <a:fillRect/>
          </a:stretch>
        </p:blipFill>
        <p:spPr>
          <a:xfrm>
            <a:off x="594360" y="1508760"/>
            <a:ext cx="274320" cy="274320"/>
          </a:xfrm>
          <a:prstGeom prst="rect">
            <a:avLst/>
          </a:prstGeom>
        </p:spPr>
      </p:pic>
      <p:sp>
        <p:nvSpPr>
          <p:cNvPr id="5" name="Text 2"/>
          <p:cNvSpPr txBox="1"/>
          <p:nvPr/>
        </p:nvSpPr>
        <p:spPr>
          <a:xfrm>
            <a:off x="1234440" y="1280160"/>
            <a:ext cx="4480560" cy="914400"/>
          </a:xfrm>
          <a:prstGeom prst="rect">
            <a:avLst/>
          </a:prstGeom>
          <a:noFill/>
          <a:ln/>
        </p:spPr>
        <p:txBody>
          <a:bodyPr wrap="square" lIns="0" tIns="0" rIns="0" bIns="0" rtlCol="0" anchor="ctr"/>
          <a:lstStyle/>
          <a:p>
            <a:pPr indent="0" marL="0">
              <a:spcAft>
                <a:spcPts val="300"/>
              </a:spcAft>
              <a:buNone/>
            </a:pPr>
            <a:r>
              <a:rPr lang="en-US" sz="1600" b="1" dirty="0">
                <a:solidFill>
                  <a:srgbClr val="4527A0"/>
                </a:solidFill>
                <a:latin typeface="Calibri" pitchFamily="34" charset="0"/>
                <a:ea typeface="Calibri" pitchFamily="34" charset="-122"/>
                <a:cs typeface="Calibri" pitchFamily="34" charset="-120"/>
              </a:rPr>
              <a:t>What it is</a:t>
            </a:r>
            <a:endParaRPr lang="en-US" sz="1600" dirty="0"/>
          </a:p>
          <a:p>
            <a:pPr indent="0" marL="0">
              <a:spcAft>
                <a:spcPts val="300"/>
              </a:spcAft>
              <a:buNone/>
            </a:pPr>
            <a:r>
              <a:rPr lang="en-US" sz="1500" dirty="0">
                <a:solidFill>
                  <a:srgbClr val="231B3D"/>
                </a:solidFill>
                <a:latin typeface="Calibri" pitchFamily="34" charset="0"/>
                <a:ea typeface="Calibri" pitchFamily="34" charset="-122"/>
                <a:cs typeface="Calibri" pitchFamily="34" charset="-120"/>
              </a:rPr>
              <a:t>A digital art gallery &amp; shop built with Flutter and Supabase</a:t>
            </a:r>
            <a:endParaRPr lang="en-US" sz="1600" dirty="0"/>
          </a:p>
        </p:txBody>
      </p:sp>
      <p:sp>
        <p:nvSpPr>
          <p:cNvPr id="6" name="Shape 3"/>
          <p:cNvSpPr/>
          <p:nvPr/>
        </p:nvSpPr>
        <p:spPr>
          <a:xfrm>
            <a:off x="457200" y="2514600"/>
            <a:ext cx="548640" cy="548640"/>
          </a:xfrm>
          <a:prstGeom prst="ellipse">
            <a:avLst/>
          </a:prstGeom>
          <a:solidFill>
            <a:srgbClr val="4527A0"/>
          </a:solidFill>
          <a:ln w="12700">
            <a:solidFill>
              <a:srgbClr val="4527A0"/>
            </a:solidFill>
            <a:prstDash val="solid"/>
          </a:ln>
        </p:spPr>
      </p:sp>
      <p:pic>
        <p:nvPicPr>
          <p:cNvPr id="7" name="Image 1" descr="preencoded.png">    </p:cNvPr>
          <p:cNvPicPr>
            <a:picLocks noChangeAspect="1"/>
          </p:cNvPicPr>
          <p:nvPr/>
        </p:nvPicPr>
        <p:blipFill>
          <a:blip r:embed="rId2"/>
          <a:stretch>
            <a:fillRect/>
          </a:stretch>
        </p:blipFill>
        <p:spPr>
          <a:xfrm>
            <a:off x="594360" y="2651760"/>
            <a:ext cx="274320" cy="274320"/>
          </a:xfrm>
          <a:prstGeom prst="rect">
            <a:avLst/>
          </a:prstGeom>
        </p:spPr>
      </p:pic>
      <p:sp>
        <p:nvSpPr>
          <p:cNvPr id="8" name="Text 4"/>
          <p:cNvSpPr txBox="1"/>
          <p:nvPr/>
        </p:nvSpPr>
        <p:spPr>
          <a:xfrm>
            <a:off x="1234440" y="2423160"/>
            <a:ext cx="4480560" cy="914400"/>
          </a:xfrm>
          <a:prstGeom prst="rect">
            <a:avLst/>
          </a:prstGeom>
          <a:noFill/>
          <a:ln/>
        </p:spPr>
        <p:txBody>
          <a:bodyPr wrap="square" lIns="0" tIns="0" rIns="0" bIns="0" rtlCol="0" anchor="ctr"/>
          <a:lstStyle/>
          <a:p>
            <a:pPr indent="0" marL="0">
              <a:spcAft>
                <a:spcPts val="300"/>
              </a:spcAft>
              <a:buNone/>
            </a:pPr>
            <a:r>
              <a:rPr lang="en-US" sz="1600" b="1" dirty="0">
                <a:solidFill>
                  <a:srgbClr val="4527A0"/>
                </a:solidFill>
                <a:latin typeface="Calibri" pitchFamily="34" charset="0"/>
                <a:ea typeface="Calibri" pitchFamily="34" charset="-122"/>
                <a:cs typeface="Calibri" pitchFamily="34" charset="-120"/>
              </a:rPr>
              <a:t>What users do</a:t>
            </a:r>
            <a:endParaRPr lang="en-US" sz="1600" dirty="0"/>
          </a:p>
          <a:p>
            <a:pPr indent="0" marL="0">
              <a:spcAft>
                <a:spcPts val="300"/>
              </a:spcAft>
              <a:buNone/>
            </a:pPr>
            <a:r>
              <a:rPr lang="en-US" sz="1500" dirty="0">
                <a:solidFill>
                  <a:srgbClr val="231B3D"/>
                </a:solidFill>
                <a:latin typeface="Calibri" pitchFamily="34" charset="0"/>
                <a:ea typeface="Calibri" pitchFamily="34" charset="-122"/>
                <a:cs typeface="Calibri" pitchFamily="34" charset="-120"/>
              </a:rPr>
              <a:t>Sign in, browse paintings, like, comment, add to cart and check out</a:t>
            </a:r>
            <a:endParaRPr lang="en-US" sz="1600" dirty="0"/>
          </a:p>
        </p:txBody>
      </p:sp>
      <p:sp>
        <p:nvSpPr>
          <p:cNvPr id="9" name="Shape 5"/>
          <p:cNvSpPr/>
          <p:nvPr/>
        </p:nvSpPr>
        <p:spPr>
          <a:xfrm>
            <a:off x="457200" y="3657600"/>
            <a:ext cx="548640" cy="548640"/>
          </a:xfrm>
          <a:prstGeom prst="ellipse">
            <a:avLst/>
          </a:prstGeom>
          <a:solidFill>
            <a:srgbClr val="4527A0"/>
          </a:solidFill>
          <a:ln w="12700">
            <a:solidFill>
              <a:srgbClr val="4527A0"/>
            </a:solidFill>
            <a:prstDash val="solid"/>
          </a:ln>
        </p:spPr>
      </p:sp>
      <p:pic>
        <p:nvPicPr>
          <p:cNvPr id="10" name="Image 2" descr="preencoded.png">    </p:cNvPr>
          <p:cNvPicPr>
            <a:picLocks noChangeAspect="1"/>
          </p:cNvPicPr>
          <p:nvPr/>
        </p:nvPicPr>
        <p:blipFill>
          <a:blip r:embed="rId3"/>
          <a:stretch>
            <a:fillRect/>
          </a:stretch>
        </p:blipFill>
        <p:spPr>
          <a:xfrm>
            <a:off x="594360" y="3794760"/>
            <a:ext cx="274320" cy="274320"/>
          </a:xfrm>
          <a:prstGeom prst="rect">
            <a:avLst/>
          </a:prstGeom>
        </p:spPr>
      </p:pic>
      <p:sp>
        <p:nvSpPr>
          <p:cNvPr id="11" name="Text 6"/>
          <p:cNvSpPr txBox="1"/>
          <p:nvPr/>
        </p:nvSpPr>
        <p:spPr>
          <a:xfrm>
            <a:off x="1234440" y="3566160"/>
            <a:ext cx="4480560" cy="914400"/>
          </a:xfrm>
          <a:prstGeom prst="rect">
            <a:avLst/>
          </a:prstGeom>
          <a:noFill/>
          <a:ln/>
        </p:spPr>
        <p:txBody>
          <a:bodyPr wrap="square" lIns="0" tIns="0" rIns="0" bIns="0" rtlCol="0" anchor="ctr"/>
          <a:lstStyle/>
          <a:p>
            <a:pPr indent="0" marL="0">
              <a:spcAft>
                <a:spcPts val="300"/>
              </a:spcAft>
              <a:buNone/>
            </a:pPr>
            <a:r>
              <a:rPr lang="en-US" sz="1600" b="1" dirty="0">
                <a:solidFill>
                  <a:srgbClr val="4527A0"/>
                </a:solidFill>
                <a:latin typeface="Calibri" pitchFamily="34" charset="0"/>
                <a:ea typeface="Calibri" pitchFamily="34" charset="-122"/>
                <a:cs typeface="Calibri" pitchFamily="34" charset="-120"/>
              </a:rPr>
              <a:t>What else</a:t>
            </a:r>
            <a:endParaRPr lang="en-US" sz="1600" dirty="0"/>
          </a:p>
          <a:p>
            <a:pPr indent="0" marL="0">
              <a:spcAft>
                <a:spcPts val="300"/>
              </a:spcAft>
              <a:buNone/>
            </a:pPr>
            <a:r>
              <a:rPr lang="en-US" sz="1500" dirty="0">
                <a:solidFill>
                  <a:srgbClr val="231B3D"/>
                </a:solidFill>
                <a:latin typeface="Calibri" pitchFamily="34" charset="0"/>
                <a:ea typeface="Calibri" pitchFamily="34" charset="-122"/>
                <a:cs typeface="Calibri" pitchFamily="34" charset="-120"/>
              </a:rPr>
              <a:t>Add, edit and delete paintings, and import artworks from a public art API</a:t>
            </a:r>
            <a:endParaRPr lang="en-US" sz="1600" dirty="0"/>
          </a:p>
        </p:txBody>
      </p:sp>
      <p:sp>
        <p:nvSpPr>
          <p:cNvPr id="12" name="Shape 7"/>
          <p:cNvSpPr/>
          <p:nvPr/>
        </p:nvSpPr>
        <p:spPr>
          <a:xfrm>
            <a:off x="6263640" y="868680"/>
            <a:ext cx="2148840" cy="3840480"/>
          </a:xfrm>
          <a:prstGeom prst="roundRect">
            <a:avLst>
              <a:gd name="adj" fmla="val 10638"/>
            </a:avLst>
          </a:prstGeom>
          <a:solidFill>
            <a:srgbClr val="EDE7F9"/>
          </a:solidFill>
          <a:ln w="12700">
            <a:solidFill>
              <a:srgbClr val="EDE7F9"/>
            </a:solidFill>
            <a:prstDash val="solid"/>
          </a:ln>
        </p:spPr>
      </p:sp>
      <p:pic>
        <p:nvPicPr>
          <p:cNvPr id="13" name="Image 3" descr="/home/claude/deck/img/home.png">    </p:cNvPr>
          <p:cNvPicPr>
            <a:picLocks noChangeAspect="1"/>
          </p:cNvPicPr>
          <p:nvPr/>
        </p:nvPicPr>
        <p:blipFill>
          <a:blip r:embed="rId4"/>
          <a:stretch>
            <a:fillRect/>
          </a:stretch>
        </p:blipFill>
        <p:spPr>
          <a:xfrm>
            <a:off x="6400800" y="960120"/>
            <a:ext cx="1801031" cy="3657600"/>
          </a:xfrm>
          <a:prstGeom prst="rect">
            <a:avLst/>
          </a:prstGeom>
        </p:spPr>
      </p:pic>
      <p:sp>
        <p:nvSpPr>
          <p:cNvPr id="14" name="Text 8"/>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5F5A73"/>
                </a:solidFill>
                <a:latin typeface="Calibri" pitchFamily="34" charset="0"/>
                <a:ea typeface="Calibri" pitchFamily="34" charset="-122"/>
                <a:cs typeface="Calibri" pitchFamily="34" charset="-120"/>
              </a:rPr>
              <a:t>Artify  |  Mobile Development using Flutter</a:t>
            </a:r>
            <a:endParaRPr lang="en-US" sz="1000" dirty="0"/>
          </a:p>
        </p:txBody>
      </p:sp>
      <p:sp>
        <p:nvSpPr>
          <p:cNvPr id="15" name="Text 9"/>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5F5A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FC"/>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0F3B"/>
                </a:solidFill>
                <a:latin typeface="Cambria" pitchFamily="34" charset="0"/>
                <a:ea typeface="Cambria" pitchFamily="34" charset="-122"/>
                <a:cs typeface="Cambria" pitchFamily="34" charset="-120"/>
              </a:rPr>
              <a:t>Application Features</a:t>
            </a:r>
            <a:endParaRPr lang="en-US" sz="3200" dirty="0"/>
          </a:p>
        </p:txBody>
      </p:sp>
      <p:sp>
        <p:nvSpPr>
          <p:cNvPr id="3" name="Shape 1"/>
          <p:cNvSpPr/>
          <p:nvPr/>
        </p:nvSpPr>
        <p:spPr>
          <a:xfrm>
            <a:off x="457200" y="1188720"/>
            <a:ext cx="2560320" cy="1600200"/>
          </a:xfrm>
          <a:prstGeom prst="roundRect">
            <a:avLst>
              <a:gd name="adj" fmla="val 6857"/>
            </a:avLst>
          </a:prstGeom>
          <a:solidFill>
            <a:srgbClr val="FFFFFF"/>
          </a:solidFill>
          <a:ln w="9525">
            <a:solidFill>
              <a:srgbClr val="E2DAF3"/>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640080" y="1371600"/>
            <a:ext cx="457200" cy="457200"/>
          </a:xfrm>
          <a:prstGeom prst="ellipse">
            <a:avLst/>
          </a:prstGeom>
          <a:solidFill>
            <a:srgbClr val="4527A0"/>
          </a:solidFill>
          <a:ln w="12700">
            <a:solidFill>
              <a:srgbClr val="4527A0"/>
            </a:solidFill>
            <a:prstDash val="solid"/>
          </a:ln>
        </p:spPr>
      </p:sp>
      <p:pic>
        <p:nvPicPr>
          <p:cNvPr id="5" name="Image 0" descr="preencoded.png">    </p:cNvPr>
          <p:cNvPicPr>
            <a:picLocks noChangeAspect="1"/>
          </p:cNvPicPr>
          <p:nvPr/>
        </p:nvPicPr>
        <p:blipFill>
          <a:blip r:embed="rId1"/>
          <a:stretch>
            <a:fillRect/>
          </a:stretch>
        </p:blipFill>
        <p:spPr>
          <a:xfrm>
            <a:off x="754380" y="1485900"/>
            <a:ext cx="228600" cy="228600"/>
          </a:xfrm>
          <a:prstGeom prst="rect">
            <a:avLst/>
          </a:prstGeom>
        </p:spPr>
      </p:pic>
      <p:sp>
        <p:nvSpPr>
          <p:cNvPr id="6" name="Text 3"/>
          <p:cNvSpPr txBox="1"/>
          <p:nvPr/>
        </p:nvSpPr>
        <p:spPr>
          <a:xfrm>
            <a:off x="1234440" y="1371600"/>
            <a:ext cx="1645920" cy="457200"/>
          </a:xfrm>
          <a:prstGeom prst="rect">
            <a:avLst/>
          </a:prstGeom>
          <a:noFill/>
          <a:ln/>
        </p:spPr>
        <p:txBody>
          <a:bodyPr wrap="square" lIns="0" tIns="0" rIns="0" bIns="0" rtlCol="0" anchor="ctr"/>
          <a:lstStyle/>
          <a:p>
            <a:pPr indent="0" marL="0">
              <a:buNone/>
            </a:pPr>
            <a:r>
              <a:rPr lang="en-US" sz="1600" b="1" dirty="0">
                <a:solidFill>
                  <a:srgbClr val="1B0F3B"/>
                </a:solidFill>
                <a:latin typeface="Cambria" pitchFamily="34" charset="0"/>
                <a:ea typeface="Cambria" pitchFamily="34" charset="-122"/>
                <a:cs typeface="Cambria" pitchFamily="34" charset="-120"/>
              </a:rPr>
              <a:t>Authentication</a:t>
            </a:r>
            <a:endParaRPr lang="en-US" sz="1600" dirty="0"/>
          </a:p>
        </p:txBody>
      </p:sp>
      <p:sp>
        <p:nvSpPr>
          <p:cNvPr id="7" name="Text 4"/>
          <p:cNvSpPr txBox="1"/>
          <p:nvPr/>
        </p:nvSpPr>
        <p:spPr>
          <a:xfrm>
            <a:off x="640080" y="1938528"/>
            <a:ext cx="2194560" cy="777240"/>
          </a:xfrm>
          <a:prstGeom prst="rect">
            <a:avLst/>
          </a:prstGeom>
          <a:noFill/>
          <a:ln/>
        </p:spPr>
        <p:txBody>
          <a:bodyPr wrap="square" lIns="0" tIns="0" rIns="0" bIns="0" rtlCol="0" anchor="t"/>
          <a:lstStyle/>
          <a:p>
            <a:pPr indent="0" marL="0">
              <a:buNone/>
            </a:pPr>
            <a:r>
              <a:rPr lang="en-US" sz="1200" dirty="0">
                <a:solidFill>
                  <a:srgbClr val="231B3D"/>
                </a:solidFill>
                <a:latin typeface="Calibri" pitchFamily="34" charset="0"/>
                <a:ea typeface="Calibri" pitchFamily="34" charset="-122"/>
                <a:cs typeface="Calibri" pitchFamily="34" charset="-120"/>
              </a:rPr>
              <a:t>Register, log in, log out. The session persists between launches.</a:t>
            </a:r>
            <a:endParaRPr lang="en-US" sz="1200" dirty="0"/>
          </a:p>
        </p:txBody>
      </p:sp>
      <p:sp>
        <p:nvSpPr>
          <p:cNvPr id="8" name="Shape 5"/>
          <p:cNvSpPr/>
          <p:nvPr/>
        </p:nvSpPr>
        <p:spPr>
          <a:xfrm>
            <a:off x="3291840" y="1188720"/>
            <a:ext cx="2560320" cy="1600200"/>
          </a:xfrm>
          <a:prstGeom prst="roundRect">
            <a:avLst>
              <a:gd name="adj" fmla="val 6857"/>
            </a:avLst>
          </a:prstGeom>
          <a:solidFill>
            <a:srgbClr val="FFFFFF"/>
          </a:solidFill>
          <a:ln w="9525">
            <a:solidFill>
              <a:srgbClr val="E2DAF3"/>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3474720" y="1371600"/>
            <a:ext cx="457200" cy="457200"/>
          </a:xfrm>
          <a:prstGeom prst="ellipse">
            <a:avLst/>
          </a:prstGeom>
          <a:solidFill>
            <a:srgbClr val="4527A0"/>
          </a:solidFill>
          <a:ln w="12700">
            <a:solidFill>
              <a:srgbClr val="4527A0"/>
            </a:solidFill>
            <a:prstDash val="solid"/>
          </a:ln>
        </p:spPr>
      </p:sp>
      <p:pic>
        <p:nvPicPr>
          <p:cNvPr id="10" name="Image 1" descr="preencoded.png">    </p:cNvPr>
          <p:cNvPicPr>
            <a:picLocks noChangeAspect="1"/>
          </p:cNvPicPr>
          <p:nvPr/>
        </p:nvPicPr>
        <p:blipFill>
          <a:blip r:embed="rId2"/>
          <a:stretch>
            <a:fillRect/>
          </a:stretch>
        </p:blipFill>
        <p:spPr>
          <a:xfrm>
            <a:off x="3589020" y="1485900"/>
            <a:ext cx="228600" cy="228600"/>
          </a:xfrm>
          <a:prstGeom prst="rect">
            <a:avLst/>
          </a:prstGeom>
        </p:spPr>
      </p:pic>
      <p:sp>
        <p:nvSpPr>
          <p:cNvPr id="11" name="Text 7"/>
          <p:cNvSpPr txBox="1"/>
          <p:nvPr/>
        </p:nvSpPr>
        <p:spPr>
          <a:xfrm>
            <a:off x="4069080" y="1371600"/>
            <a:ext cx="1645920" cy="457200"/>
          </a:xfrm>
          <a:prstGeom prst="rect">
            <a:avLst/>
          </a:prstGeom>
          <a:noFill/>
          <a:ln/>
        </p:spPr>
        <p:txBody>
          <a:bodyPr wrap="square" lIns="0" tIns="0" rIns="0" bIns="0" rtlCol="0" anchor="ctr"/>
          <a:lstStyle/>
          <a:p>
            <a:pPr indent="0" marL="0">
              <a:buNone/>
            </a:pPr>
            <a:r>
              <a:rPr lang="en-US" sz="1600" b="1" dirty="0">
                <a:solidFill>
                  <a:srgbClr val="1B0F3B"/>
                </a:solidFill>
                <a:latin typeface="Cambria" pitchFamily="34" charset="0"/>
                <a:ea typeface="Cambria" pitchFamily="34" charset="-122"/>
                <a:cs typeface="Cambria" pitchFamily="34" charset="-120"/>
              </a:rPr>
              <a:t>Gallery</a:t>
            </a:r>
            <a:endParaRPr lang="en-US" sz="1600" dirty="0"/>
          </a:p>
        </p:txBody>
      </p:sp>
      <p:sp>
        <p:nvSpPr>
          <p:cNvPr id="12" name="Text 8"/>
          <p:cNvSpPr txBox="1"/>
          <p:nvPr/>
        </p:nvSpPr>
        <p:spPr>
          <a:xfrm>
            <a:off x="3474720" y="1938528"/>
            <a:ext cx="2194560" cy="777240"/>
          </a:xfrm>
          <a:prstGeom prst="rect">
            <a:avLst/>
          </a:prstGeom>
          <a:noFill/>
          <a:ln/>
        </p:spPr>
        <p:txBody>
          <a:bodyPr wrap="square" lIns="0" tIns="0" rIns="0" bIns="0" rtlCol="0" anchor="t"/>
          <a:lstStyle/>
          <a:p>
            <a:pPr indent="0" marL="0">
              <a:buNone/>
            </a:pPr>
            <a:r>
              <a:rPr lang="en-US" sz="1200" dirty="0">
                <a:solidFill>
                  <a:srgbClr val="231B3D"/>
                </a:solidFill>
                <a:latin typeface="Calibri" pitchFamily="34" charset="0"/>
                <a:ea typeface="Calibri" pitchFamily="34" charset="-122"/>
                <a:cs typeface="Calibri" pitchFamily="34" charset="-120"/>
              </a:rPr>
              <a:t>Loading, error + retry and empty states. Search, favorites filter, pull-to-refresh.</a:t>
            </a:r>
            <a:endParaRPr lang="en-US" sz="1200" dirty="0"/>
          </a:p>
        </p:txBody>
      </p:sp>
      <p:sp>
        <p:nvSpPr>
          <p:cNvPr id="13" name="Shape 9"/>
          <p:cNvSpPr/>
          <p:nvPr/>
        </p:nvSpPr>
        <p:spPr>
          <a:xfrm>
            <a:off x="6126480" y="1188720"/>
            <a:ext cx="2560320" cy="1600200"/>
          </a:xfrm>
          <a:prstGeom prst="roundRect">
            <a:avLst>
              <a:gd name="adj" fmla="val 6857"/>
            </a:avLst>
          </a:prstGeom>
          <a:solidFill>
            <a:srgbClr val="FFFFFF"/>
          </a:solidFill>
          <a:ln w="9525">
            <a:solidFill>
              <a:srgbClr val="E2DAF3"/>
            </a:solidFill>
            <a:prstDash val="solid"/>
          </a:ln>
          <a:effectLst>
            <a:outerShdw sx="100000" sy="100000" kx="0" ky="0" algn="bl" rotWithShape="0" blurRad="101600" dist="25400" dir="5400000">
              <a:srgbClr val="000000">
                <a:alpha val="12000"/>
              </a:srgbClr>
            </a:outerShdw>
          </a:effectLst>
        </p:spPr>
      </p:sp>
      <p:sp>
        <p:nvSpPr>
          <p:cNvPr id="14" name="Shape 10"/>
          <p:cNvSpPr/>
          <p:nvPr/>
        </p:nvSpPr>
        <p:spPr>
          <a:xfrm>
            <a:off x="6309360" y="1371600"/>
            <a:ext cx="457200" cy="457200"/>
          </a:xfrm>
          <a:prstGeom prst="ellipse">
            <a:avLst/>
          </a:prstGeom>
          <a:solidFill>
            <a:srgbClr val="4527A0"/>
          </a:solidFill>
          <a:ln w="12700">
            <a:solidFill>
              <a:srgbClr val="4527A0"/>
            </a:solidFill>
            <a:prstDash val="solid"/>
          </a:ln>
        </p:spPr>
      </p:sp>
      <p:pic>
        <p:nvPicPr>
          <p:cNvPr id="15" name="Image 2" descr="preencoded.png">    </p:cNvPr>
          <p:cNvPicPr>
            <a:picLocks noChangeAspect="1"/>
          </p:cNvPicPr>
          <p:nvPr/>
        </p:nvPicPr>
        <p:blipFill>
          <a:blip r:embed="rId3"/>
          <a:stretch>
            <a:fillRect/>
          </a:stretch>
        </p:blipFill>
        <p:spPr>
          <a:xfrm>
            <a:off x="6423660" y="1485900"/>
            <a:ext cx="228600" cy="228600"/>
          </a:xfrm>
          <a:prstGeom prst="rect">
            <a:avLst/>
          </a:prstGeom>
        </p:spPr>
      </p:pic>
      <p:sp>
        <p:nvSpPr>
          <p:cNvPr id="16" name="Text 11"/>
          <p:cNvSpPr txBox="1"/>
          <p:nvPr/>
        </p:nvSpPr>
        <p:spPr>
          <a:xfrm>
            <a:off x="6903720" y="1371600"/>
            <a:ext cx="1645920" cy="457200"/>
          </a:xfrm>
          <a:prstGeom prst="rect">
            <a:avLst/>
          </a:prstGeom>
          <a:noFill/>
          <a:ln/>
        </p:spPr>
        <p:txBody>
          <a:bodyPr wrap="square" lIns="0" tIns="0" rIns="0" bIns="0" rtlCol="0" anchor="ctr"/>
          <a:lstStyle/>
          <a:p>
            <a:pPr indent="0" marL="0">
              <a:buNone/>
            </a:pPr>
            <a:r>
              <a:rPr lang="en-US" sz="1600" b="1" dirty="0">
                <a:solidFill>
                  <a:srgbClr val="1B0F3B"/>
                </a:solidFill>
                <a:latin typeface="Cambria" pitchFamily="34" charset="0"/>
                <a:ea typeface="Cambria" pitchFamily="34" charset="-122"/>
                <a:cs typeface="Cambria" pitchFamily="34" charset="-120"/>
              </a:rPr>
              <a:t>Comments &amp; Cart</a:t>
            </a:r>
            <a:endParaRPr lang="en-US" sz="1600" dirty="0"/>
          </a:p>
        </p:txBody>
      </p:sp>
      <p:sp>
        <p:nvSpPr>
          <p:cNvPr id="17" name="Text 12"/>
          <p:cNvSpPr txBox="1"/>
          <p:nvPr/>
        </p:nvSpPr>
        <p:spPr>
          <a:xfrm>
            <a:off x="6309360" y="1938528"/>
            <a:ext cx="2194560" cy="777240"/>
          </a:xfrm>
          <a:prstGeom prst="rect">
            <a:avLst/>
          </a:prstGeom>
          <a:noFill/>
          <a:ln/>
        </p:spPr>
        <p:txBody>
          <a:bodyPr wrap="square" lIns="0" tIns="0" rIns="0" bIns="0" rtlCol="0" anchor="t"/>
          <a:lstStyle/>
          <a:p>
            <a:pPr indent="0" marL="0">
              <a:buNone/>
            </a:pPr>
            <a:r>
              <a:rPr lang="en-US" sz="1200" dirty="0">
                <a:solidFill>
                  <a:srgbClr val="231B3D"/>
                </a:solidFill>
                <a:latin typeface="Calibri" pitchFamily="34" charset="0"/>
                <a:ea typeface="Calibri" pitchFamily="34" charset="-122"/>
                <a:cs typeface="Calibri" pitchFamily="34" charset="-120"/>
              </a:rPr>
              <a:t>Comments stored in Supabase. Cart with badge and total, saved locally.</a:t>
            </a:r>
            <a:endParaRPr lang="en-US" sz="1200" dirty="0"/>
          </a:p>
        </p:txBody>
      </p:sp>
      <p:sp>
        <p:nvSpPr>
          <p:cNvPr id="18" name="Shape 13"/>
          <p:cNvSpPr/>
          <p:nvPr/>
        </p:nvSpPr>
        <p:spPr>
          <a:xfrm>
            <a:off x="457200" y="2971800"/>
            <a:ext cx="2560320" cy="1600200"/>
          </a:xfrm>
          <a:prstGeom prst="roundRect">
            <a:avLst>
              <a:gd name="adj" fmla="val 6857"/>
            </a:avLst>
          </a:prstGeom>
          <a:solidFill>
            <a:srgbClr val="FFFFFF"/>
          </a:solidFill>
          <a:ln w="9525">
            <a:solidFill>
              <a:srgbClr val="E2DAF3"/>
            </a:solidFill>
            <a:prstDash val="solid"/>
          </a:ln>
          <a:effectLst>
            <a:outerShdw sx="100000" sy="100000" kx="0" ky="0" algn="bl" rotWithShape="0" blurRad="101600" dist="25400" dir="5400000">
              <a:srgbClr val="000000">
                <a:alpha val="12000"/>
              </a:srgbClr>
            </a:outerShdw>
          </a:effectLst>
        </p:spPr>
      </p:sp>
      <p:sp>
        <p:nvSpPr>
          <p:cNvPr id="19" name="Shape 14"/>
          <p:cNvSpPr/>
          <p:nvPr/>
        </p:nvSpPr>
        <p:spPr>
          <a:xfrm>
            <a:off x="640080" y="3154680"/>
            <a:ext cx="457200" cy="457200"/>
          </a:xfrm>
          <a:prstGeom prst="ellipse">
            <a:avLst/>
          </a:prstGeom>
          <a:solidFill>
            <a:srgbClr val="4527A0"/>
          </a:solidFill>
          <a:ln w="12700">
            <a:solidFill>
              <a:srgbClr val="4527A0"/>
            </a:solidFill>
            <a:prstDash val="solid"/>
          </a:ln>
        </p:spPr>
      </p:sp>
      <p:pic>
        <p:nvPicPr>
          <p:cNvPr id="20" name="Image 3" descr="preencoded.png">    </p:cNvPr>
          <p:cNvPicPr>
            <a:picLocks noChangeAspect="1"/>
          </p:cNvPicPr>
          <p:nvPr/>
        </p:nvPicPr>
        <p:blipFill>
          <a:blip r:embed="rId4"/>
          <a:stretch>
            <a:fillRect/>
          </a:stretch>
        </p:blipFill>
        <p:spPr>
          <a:xfrm>
            <a:off x="754380" y="3268980"/>
            <a:ext cx="228600" cy="228600"/>
          </a:xfrm>
          <a:prstGeom prst="rect">
            <a:avLst/>
          </a:prstGeom>
        </p:spPr>
      </p:pic>
      <p:sp>
        <p:nvSpPr>
          <p:cNvPr id="21" name="Text 15"/>
          <p:cNvSpPr txBox="1"/>
          <p:nvPr/>
        </p:nvSpPr>
        <p:spPr>
          <a:xfrm>
            <a:off x="1234440" y="3154680"/>
            <a:ext cx="1645920" cy="457200"/>
          </a:xfrm>
          <a:prstGeom prst="rect">
            <a:avLst/>
          </a:prstGeom>
          <a:noFill/>
          <a:ln/>
        </p:spPr>
        <p:txBody>
          <a:bodyPr wrap="square" lIns="0" tIns="0" rIns="0" bIns="0" rtlCol="0" anchor="ctr"/>
          <a:lstStyle/>
          <a:p>
            <a:pPr indent="0" marL="0">
              <a:buNone/>
            </a:pPr>
            <a:r>
              <a:rPr lang="en-US" sz="1600" b="1" dirty="0">
                <a:solidFill>
                  <a:srgbClr val="1B0F3B"/>
                </a:solidFill>
                <a:latin typeface="Cambria" pitchFamily="34" charset="0"/>
                <a:ea typeface="Cambria" pitchFamily="34" charset="-122"/>
                <a:cs typeface="Cambria" pitchFamily="34" charset="-120"/>
              </a:rPr>
              <a:t>Full CRUD</a:t>
            </a:r>
            <a:endParaRPr lang="en-US" sz="1600" dirty="0"/>
          </a:p>
        </p:txBody>
      </p:sp>
      <p:sp>
        <p:nvSpPr>
          <p:cNvPr id="22" name="Text 16"/>
          <p:cNvSpPr txBox="1"/>
          <p:nvPr/>
        </p:nvSpPr>
        <p:spPr>
          <a:xfrm>
            <a:off x="640080" y="3721608"/>
            <a:ext cx="2194560" cy="777240"/>
          </a:xfrm>
          <a:prstGeom prst="rect">
            <a:avLst/>
          </a:prstGeom>
          <a:noFill/>
          <a:ln/>
        </p:spPr>
        <p:txBody>
          <a:bodyPr wrap="square" lIns="0" tIns="0" rIns="0" bIns="0" rtlCol="0" anchor="t"/>
          <a:lstStyle/>
          <a:p>
            <a:pPr indent="0" marL="0">
              <a:buNone/>
            </a:pPr>
            <a:r>
              <a:rPr lang="en-US" sz="1200" dirty="0">
                <a:solidFill>
                  <a:srgbClr val="231B3D"/>
                </a:solidFill>
                <a:latin typeface="Calibri" pitchFamily="34" charset="0"/>
                <a:ea typeface="Calibri" pitchFamily="34" charset="-122"/>
                <a:cs typeface="Calibri" pitchFamily="34" charset="-120"/>
              </a:rPr>
              <a:t>Add, edit and delete paintings. Swipe to delete with confirmation.</a:t>
            </a:r>
            <a:endParaRPr lang="en-US" sz="1200" dirty="0"/>
          </a:p>
        </p:txBody>
      </p:sp>
      <p:sp>
        <p:nvSpPr>
          <p:cNvPr id="23" name="Shape 17"/>
          <p:cNvSpPr/>
          <p:nvPr/>
        </p:nvSpPr>
        <p:spPr>
          <a:xfrm>
            <a:off x="3291840" y="2971800"/>
            <a:ext cx="2560320" cy="1600200"/>
          </a:xfrm>
          <a:prstGeom prst="roundRect">
            <a:avLst>
              <a:gd name="adj" fmla="val 6857"/>
            </a:avLst>
          </a:prstGeom>
          <a:solidFill>
            <a:srgbClr val="FFFFFF"/>
          </a:solidFill>
          <a:ln w="9525">
            <a:solidFill>
              <a:srgbClr val="E2DAF3"/>
            </a:solidFill>
            <a:prstDash val="solid"/>
          </a:ln>
          <a:effectLst>
            <a:outerShdw sx="100000" sy="100000" kx="0" ky="0" algn="bl" rotWithShape="0" blurRad="101600" dist="25400" dir="5400000">
              <a:srgbClr val="000000">
                <a:alpha val="12000"/>
              </a:srgbClr>
            </a:outerShdw>
          </a:effectLst>
        </p:spPr>
      </p:sp>
      <p:sp>
        <p:nvSpPr>
          <p:cNvPr id="24" name="Shape 18"/>
          <p:cNvSpPr/>
          <p:nvPr/>
        </p:nvSpPr>
        <p:spPr>
          <a:xfrm>
            <a:off x="3474720" y="3154680"/>
            <a:ext cx="457200" cy="457200"/>
          </a:xfrm>
          <a:prstGeom prst="ellipse">
            <a:avLst/>
          </a:prstGeom>
          <a:solidFill>
            <a:srgbClr val="4527A0"/>
          </a:solidFill>
          <a:ln w="12700">
            <a:solidFill>
              <a:srgbClr val="4527A0"/>
            </a:solidFill>
            <a:prstDash val="solid"/>
          </a:ln>
        </p:spPr>
      </p:sp>
      <p:pic>
        <p:nvPicPr>
          <p:cNvPr id="25" name="Image 4" descr="preencoded.png">    </p:cNvPr>
          <p:cNvPicPr>
            <a:picLocks noChangeAspect="1"/>
          </p:cNvPicPr>
          <p:nvPr/>
        </p:nvPicPr>
        <p:blipFill>
          <a:blip r:embed="rId5"/>
          <a:stretch>
            <a:fillRect/>
          </a:stretch>
        </p:blipFill>
        <p:spPr>
          <a:xfrm>
            <a:off x="3589020" y="3268980"/>
            <a:ext cx="228600" cy="228600"/>
          </a:xfrm>
          <a:prstGeom prst="rect">
            <a:avLst/>
          </a:prstGeom>
        </p:spPr>
      </p:pic>
      <p:sp>
        <p:nvSpPr>
          <p:cNvPr id="26" name="Text 19"/>
          <p:cNvSpPr txBox="1"/>
          <p:nvPr/>
        </p:nvSpPr>
        <p:spPr>
          <a:xfrm>
            <a:off x="4069080" y="3154680"/>
            <a:ext cx="1645920" cy="457200"/>
          </a:xfrm>
          <a:prstGeom prst="rect">
            <a:avLst/>
          </a:prstGeom>
          <a:noFill/>
          <a:ln/>
        </p:spPr>
        <p:txBody>
          <a:bodyPr wrap="square" lIns="0" tIns="0" rIns="0" bIns="0" rtlCol="0" anchor="ctr"/>
          <a:lstStyle/>
          <a:p>
            <a:pPr indent="0" marL="0">
              <a:buNone/>
            </a:pPr>
            <a:r>
              <a:rPr lang="en-US" sz="1600" b="1" dirty="0">
                <a:solidFill>
                  <a:srgbClr val="1B0F3B"/>
                </a:solidFill>
                <a:latin typeface="Cambria" pitchFamily="34" charset="0"/>
                <a:ea typeface="Cambria" pitchFamily="34" charset="-122"/>
                <a:cs typeface="Cambria" pitchFamily="34" charset="-120"/>
              </a:rPr>
              <a:t>Discover</a:t>
            </a:r>
            <a:endParaRPr lang="en-US" sz="1600" dirty="0"/>
          </a:p>
        </p:txBody>
      </p:sp>
      <p:sp>
        <p:nvSpPr>
          <p:cNvPr id="27" name="Text 20"/>
          <p:cNvSpPr txBox="1"/>
          <p:nvPr/>
        </p:nvSpPr>
        <p:spPr>
          <a:xfrm>
            <a:off x="3474720" y="3721608"/>
            <a:ext cx="2194560" cy="777240"/>
          </a:xfrm>
          <a:prstGeom prst="rect">
            <a:avLst/>
          </a:prstGeom>
          <a:noFill/>
          <a:ln/>
        </p:spPr>
        <p:txBody>
          <a:bodyPr wrap="square" lIns="0" tIns="0" rIns="0" bIns="0" rtlCol="0" anchor="t"/>
          <a:lstStyle/>
          <a:p>
            <a:pPr indent="0" marL="0">
              <a:buNone/>
            </a:pPr>
            <a:r>
              <a:rPr lang="en-US" sz="1200" dirty="0">
                <a:solidFill>
                  <a:srgbClr val="231B3D"/>
                </a:solidFill>
                <a:latin typeface="Calibri" pitchFamily="34" charset="0"/>
                <a:ea typeface="Calibri" pitchFamily="34" charset="-122"/>
                <a:cs typeface="Calibri" pitchFamily="34" charset="-120"/>
              </a:rPr>
              <a:t>Search the Art Institute of Chicago API and import artworks.</a:t>
            </a:r>
            <a:endParaRPr lang="en-US" sz="1200" dirty="0"/>
          </a:p>
        </p:txBody>
      </p:sp>
      <p:sp>
        <p:nvSpPr>
          <p:cNvPr id="28" name="Shape 21"/>
          <p:cNvSpPr/>
          <p:nvPr/>
        </p:nvSpPr>
        <p:spPr>
          <a:xfrm>
            <a:off x="6126480" y="2971800"/>
            <a:ext cx="2560320" cy="1600200"/>
          </a:xfrm>
          <a:prstGeom prst="roundRect">
            <a:avLst>
              <a:gd name="adj" fmla="val 6857"/>
            </a:avLst>
          </a:prstGeom>
          <a:solidFill>
            <a:srgbClr val="FFFFFF"/>
          </a:solidFill>
          <a:ln w="9525">
            <a:solidFill>
              <a:srgbClr val="E2DAF3"/>
            </a:solidFill>
            <a:prstDash val="solid"/>
          </a:ln>
          <a:effectLst>
            <a:outerShdw sx="100000" sy="100000" kx="0" ky="0" algn="bl" rotWithShape="0" blurRad="101600" dist="25400" dir="5400000">
              <a:srgbClr val="000000">
                <a:alpha val="12000"/>
              </a:srgbClr>
            </a:outerShdw>
          </a:effectLst>
        </p:spPr>
      </p:sp>
      <p:sp>
        <p:nvSpPr>
          <p:cNvPr id="29" name="Shape 22"/>
          <p:cNvSpPr/>
          <p:nvPr/>
        </p:nvSpPr>
        <p:spPr>
          <a:xfrm>
            <a:off x="6309360" y="3154680"/>
            <a:ext cx="457200" cy="457200"/>
          </a:xfrm>
          <a:prstGeom prst="ellipse">
            <a:avLst/>
          </a:prstGeom>
          <a:solidFill>
            <a:srgbClr val="4527A0"/>
          </a:solidFill>
          <a:ln w="12700">
            <a:solidFill>
              <a:srgbClr val="4527A0"/>
            </a:solidFill>
            <a:prstDash val="solid"/>
          </a:ln>
        </p:spPr>
      </p:sp>
      <p:pic>
        <p:nvPicPr>
          <p:cNvPr id="30" name="Image 5" descr="preencoded.png">    </p:cNvPr>
          <p:cNvPicPr>
            <a:picLocks noChangeAspect="1"/>
          </p:cNvPicPr>
          <p:nvPr/>
        </p:nvPicPr>
        <p:blipFill>
          <a:blip r:embed="rId6"/>
          <a:stretch>
            <a:fillRect/>
          </a:stretch>
        </p:blipFill>
        <p:spPr>
          <a:xfrm>
            <a:off x="6423660" y="3268980"/>
            <a:ext cx="228600" cy="228600"/>
          </a:xfrm>
          <a:prstGeom prst="rect">
            <a:avLst/>
          </a:prstGeom>
        </p:spPr>
      </p:pic>
      <p:sp>
        <p:nvSpPr>
          <p:cNvPr id="31" name="Text 23"/>
          <p:cNvSpPr txBox="1"/>
          <p:nvPr/>
        </p:nvSpPr>
        <p:spPr>
          <a:xfrm>
            <a:off x="6903720" y="3154680"/>
            <a:ext cx="1645920" cy="457200"/>
          </a:xfrm>
          <a:prstGeom prst="rect">
            <a:avLst/>
          </a:prstGeom>
          <a:noFill/>
          <a:ln/>
        </p:spPr>
        <p:txBody>
          <a:bodyPr wrap="square" lIns="0" tIns="0" rIns="0" bIns="0" rtlCol="0" anchor="ctr"/>
          <a:lstStyle/>
          <a:p>
            <a:pPr indent="0" marL="0">
              <a:buNone/>
            </a:pPr>
            <a:r>
              <a:rPr lang="en-US" sz="1600" b="1" dirty="0">
                <a:solidFill>
                  <a:srgbClr val="1B0F3B"/>
                </a:solidFill>
                <a:latin typeface="Cambria" pitchFamily="34" charset="0"/>
                <a:ea typeface="Cambria" pitchFamily="34" charset="-122"/>
                <a:cs typeface="Cambria" pitchFamily="34" charset="-120"/>
              </a:rPr>
              <a:t>Polish</a:t>
            </a:r>
            <a:endParaRPr lang="en-US" sz="1600" dirty="0"/>
          </a:p>
        </p:txBody>
      </p:sp>
      <p:sp>
        <p:nvSpPr>
          <p:cNvPr id="32" name="Text 24"/>
          <p:cNvSpPr txBox="1"/>
          <p:nvPr/>
        </p:nvSpPr>
        <p:spPr>
          <a:xfrm>
            <a:off x="6309360" y="3721608"/>
            <a:ext cx="2194560" cy="777240"/>
          </a:xfrm>
          <a:prstGeom prst="rect">
            <a:avLst/>
          </a:prstGeom>
          <a:noFill/>
          <a:ln/>
        </p:spPr>
        <p:txBody>
          <a:bodyPr wrap="square" lIns="0" tIns="0" rIns="0" bIns="0" rtlCol="0" anchor="t"/>
          <a:lstStyle/>
          <a:p>
            <a:pPr indent="0" marL="0">
              <a:buNone/>
            </a:pPr>
            <a:r>
              <a:rPr lang="en-US" sz="1200" dirty="0">
                <a:solidFill>
                  <a:srgbClr val="231B3D"/>
                </a:solidFill>
                <a:latin typeface="Calibri" pitchFamily="34" charset="0"/>
                <a:ea typeface="Calibri" pitchFamily="34" charset="-122"/>
                <a:cs typeface="Calibri" pitchFamily="34" charset="-120"/>
              </a:rPr>
              <a:t>Dark mode, form validation and friendly error handling.</a:t>
            </a:r>
            <a:endParaRPr lang="en-US" sz="1200" dirty="0"/>
          </a:p>
        </p:txBody>
      </p:sp>
      <p:sp>
        <p:nvSpPr>
          <p:cNvPr id="33" name="Text 25"/>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5F5A73"/>
                </a:solidFill>
                <a:latin typeface="Calibri" pitchFamily="34" charset="0"/>
                <a:ea typeface="Calibri" pitchFamily="34" charset="-122"/>
                <a:cs typeface="Calibri" pitchFamily="34" charset="-120"/>
              </a:rPr>
              <a:t>Artify  |  Mobile Development using Flutter</a:t>
            </a:r>
            <a:endParaRPr lang="en-US" sz="1000" dirty="0"/>
          </a:p>
        </p:txBody>
      </p:sp>
      <p:sp>
        <p:nvSpPr>
          <p:cNvPr id="34" name="Text 26"/>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5F5A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FC"/>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0F3B"/>
                </a:solidFill>
                <a:latin typeface="Cambria" pitchFamily="34" charset="0"/>
                <a:ea typeface="Cambria" pitchFamily="34" charset="-122"/>
                <a:cs typeface="Cambria" pitchFamily="34" charset="-120"/>
              </a:rPr>
              <a:t>App Screens</a:t>
            </a:r>
            <a:endParaRPr lang="en-US" sz="3200" dirty="0"/>
          </a:p>
        </p:txBody>
      </p:sp>
      <p:pic>
        <p:nvPicPr>
          <p:cNvPr id="3" name="Image 0" descr="/home/claude/deck/img/home.png">    </p:cNvPr>
          <p:cNvPicPr>
            <a:picLocks noChangeAspect="1"/>
          </p:cNvPicPr>
          <p:nvPr/>
        </p:nvPicPr>
        <p:blipFill>
          <a:blip r:embed="rId1"/>
          <a:stretch>
            <a:fillRect/>
          </a:stretch>
        </p:blipFill>
        <p:spPr>
          <a:xfrm>
            <a:off x="457200" y="1143000"/>
            <a:ext cx="1485850" cy="3017520"/>
          </a:xfrm>
          <a:prstGeom prst="rect">
            <a:avLst/>
          </a:prstGeom>
        </p:spPr>
      </p:pic>
      <p:sp>
        <p:nvSpPr>
          <p:cNvPr id="4" name="Text 1"/>
          <p:cNvSpPr txBox="1"/>
          <p:nvPr/>
        </p:nvSpPr>
        <p:spPr>
          <a:xfrm>
            <a:off x="274320" y="4297680"/>
            <a:ext cx="1851610" cy="320040"/>
          </a:xfrm>
          <a:prstGeom prst="rect">
            <a:avLst/>
          </a:prstGeom>
          <a:noFill/>
          <a:ln/>
        </p:spPr>
        <p:txBody>
          <a:bodyPr wrap="square" lIns="0" tIns="0" rIns="0" bIns="0" rtlCol="0" anchor="ctr"/>
          <a:lstStyle/>
          <a:p>
            <a:pPr algn="ctr" indent="0" marL="0">
              <a:buNone/>
            </a:pPr>
            <a:r>
              <a:rPr lang="en-US" sz="1300" b="1" dirty="0">
                <a:solidFill>
                  <a:srgbClr val="4527A0"/>
                </a:solidFill>
                <a:latin typeface="Calibri" pitchFamily="34" charset="0"/>
                <a:ea typeface="Calibri" pitchFamily="34" charset="-122"/>
                <a:cs typeface="Calibri" pitchFamily="34" charset="-120"/>
              </a:rPr>
              <a:t>Gallery</a:t>
            </a:r>
            <a:endParaRPr lang="en-US" sz="1300" dirty="0"/>
          </a:p>
        </p:txBody>
      </p:sp>
      <p:pic>
        <p:nvPicPr>
          <p:cNvPr id="5" name="Image 1" descr="/home/claude/deck/img/details.png">    </p:cNvPr>
          <p:cNvPicPr>
            <a:picLocks noChangeAspect="1"/>
          </p:cNvPicPr>
          <p:nvPr/>
        </p:nvPicPr>
        <p:blipFill>
          <a:blip r:embed="rId2"/>
          <a:stretch>
            <a:fillRect/>
          </a:stretch>
        </p:blipFill>
        <p:spPr>
          <a:xfrm>
            <a:off x="2705117" y="1143000"/>
            <a:ext cx="1485850" cy="3017520"/>
          </a:xfrm>
          <a:prstGeom prst="rect">
            <a:avLst/>
          </a:prstGeom>
        </p:spPr>
      </p:pic>
      <p:sp>
        <p:nvSpPr>
          <p:cNvPr id="6" name="Text 2"/>
          <p:cNvSpPr txBox="1"/>
          <p:nvPr/>
        </p:nvSpPr>
        <p:spPr>
          <a:xfrm>
            <a:off x="2522237" y="4297680"/>
            <a:ext cx="1851610" cy="320040"/>
          </a:xfrm>
          <a:prstGeom prst="rect">
            <a:avLst/>
          </a:prstGeom>
          <a:noFill/>
          <a:ln/>
        </p:spPr>
        <p:txBody>
          <a:bodyPr wrap="square" lIns="0" tIns="0" rIns="0" bIns="0" rtlCol="0" anchor="ctr"/>
          <a:lstStyle/>
          <a:p>
            <a:pPr algn="ctr" indent="0" marL="0">
              <a:buNone/>
            </a:pPr>
            <a:r>
              <a:rPr lang="en-US" sz="1300" b="1" dirty="0">
                <a:solidFill>
                  <a:srgbClr val="4527A0"/>
                </a:solidFill>
                <a:latin typeface="Calibri" pitchFamily="34" charset="0"/>
                <a:ea typeface="Calibri" pitchFamily="34" charset="-122"/>
                <a:cs typeface="Calibri" pitchFamily="34" charset="-120"/>
              </a:rPr>
              <a:t>Details &amp; comments</a:t>
            </a:r>
            <a:endParaRPr lang="en-US" sz="1300" dirty="0"/>
          </a:p>
        </p:txBody>
      </p:sp>
      <p:pic>
        <p:nvPicPr>
          <p:cNvPr id="7" name="Image 2" descr="/home/claude/deck/img/cart.png">    </p:cNvPr>
          <p:cNvPicPr>
            <a:picLocks noChangeAspect="1"/>
          </p:cNvPicPr>
          <p:nvPr/>
        </p:nvPicPr>
        <p:blipFill>
          <a:blip r:embed="rId3"/>
          <a:stretch>
            <a:fillRect/>
          </a:stretch>
        </p:blipFill>
        <p:spPr>
          <a:xfrm>
            <a:off x="4953033" y="1143000"/>
            <a:ext cx="1485850" cy="3017520"/>
          </a:xfrm>
          <a:prstGeom prst="rect">
            <a:avLst/>
          </a:prstGeom>
        </p:spPr>
      </p:pic>
      <p:sp>
        <p:nvSpPr>
          <p:cNvPr id="8" name="Text 3"/>
          <p:cNvSpPr txBox="1"/>
          <p:nvPr/>
        </p:nvSpPr>
        <p:spPr>
          <a:xfrm>
            <a:off x="4770153" y="4297680"/>
            <a:ext cx="1851610" cy="320040"/>
          </a:xfrm>
          <a:prstGeom prst="rect">
            <a:avLst/>
          </a:prstGeom>
          <a:noFill/>
          <a:ln/>
        </p:spPr>
        <p:txBody>
          <a:bodyPr wrap="square" lIns="0" tIns="0" rIns="0" bIns="0" rtlCol="0" anchor="ctr"/>
          <a:lstStyle/>
          <a:p>
            <a:pPr algn="ctr" indent="0" marL="0">
              <a:buNone/>
            </a:pPr>
            <a:r>
              <a:rPr lang="en-US" sz="1300" b="1" dirty="0">
                <a:solidFill>
                  <a:srgbClr val="4527A0"/>
                </a:solidFill>
                <a:latin typeface="Calibri" pitchFamily="34" charset="0"/>
                <a:ea typeface="Calibri" pitchFamily="34" charset="-122"/>
                <a:cs typeface="Calibri" pitchFamily="34" charset="-120"/>
              </a:rPr>
              <a:t>Cart</a:t>
            </a:r>
            <a:endParaRPr lang="en-US" sz="1300" dirty="0"/>
          </a:p>
        </p:txBody>
      </p:sp>
      <p:pic>
        <p:nvPicPr>
          <p:cNvPr id="9" name="Image 3" descr="/home/claude/deck/img/discover.png">    </p:cNvPr>
          <p:cNvPicPr>
            <a:picLocks noChangeAspect="1"/>
          </p:cNvPicPr>
          <p:nvPr/>
        </p:nvPicPr>
        <p:blipFill>
          <a:blip r:embed="rId4"/>
          <a:stretch>
            <a:fillRect/>
          </a:stretch>
        </p:blipFill>
        <p:spPr>
          <a:xfrm>
            <a:off x="7200950" y="1143000"/>
            <a:ext cx="1485850" cy="3017520"/>
          </a:xfrm>
          <a:prstGeom prst="rect">
            <a:avLst/>
          </a:prstGeom>
        </p:spPr>
      </p:pic>
      <p:sp>
        <p:nvSpPr>
          <p:cNvPr id="10" name="Text 4"/>
          <p:cNvSpPr txBox="1"/>
          <p:nvPr/>
        </p:nvSpPr>
        <p:spPr>
          <a:xfrm>
            <a:off x="7018070" y="4297680"/>
            <a:ext cx="1851610" cy="320040"/>
          </a:xfrm>
          <a:prstGeom prst="rect">
            <a:avLst/>
          </a:prstGeom>
          <a:noFill/>
          <a:ln/>
        </p:spPr>
        <p:txBody>
          <a:bodyPr wrap="square" lIns="0" tIns="0" rIns="0" bIns="0" rtlCol="0" anchor="ctr"/>
          <a:lstStyle/>
          <a:p>
            <a:pPr algn="ctr" indent="0" marL="0">
              <a:buNone/>
            </a:pPr>
            <a:r>
              <a:rPr lang="en-US" sz="1300" b="1" dirty="0">
                <a:solidFill>
                  <a:srgbClr val="4527A0"/>
                </a:solidFill>
                <a:latin typeface="Calibri" pitchFamily="34" charset="0"/>
                <a:ea typeface="Calibri" pitchFamily="34" charset="-122"/>
                <a:cs typeface="Calibri" pitchFamily="34" charset="-120"/>
              </a:rPr>
              <a:t>Discover (API)</a:t>
            </a:r>
            <a:endParaRPr lang="en-US" sz="1300" dirty="0"/>
          </a:p>
        </p:txBody>
      </p:sp>
      <p:sp>
        <p:nvSpPr>
          <p:cNvPr id="11" name="Text 5"/>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5F5A73"/>
                </a:solidFill>
                <a:latin typeface="Calibri" pitchFamily="34" charset="0"/>
                <a:ea typeface="Calibri" pitchFamily="34" charset="-122"/>
                <a:cs typeface="Calibri" pitchFamily="34" charset="-120"/>
              </a:rPr>
              <a:t>Artify  |  Mobile Development using Flutter</a:t>
            </a:r>
            <a:endParaRPr lang="en-US" sz="1000" dirty="0"/>
          </a:p>
        </p:txBody>
      </p:sp>
      <p:sp>
        <p:nvSpPr>
          <p:cNvPr id="12" name="Text 6"/>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5F5A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FC"/>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0F3B"/>
                </a:solidFill>
                <a:latin typeface="Cambria" pitchFamily="34" charset="0"/>
                <a:ea typeface="Cambria" pitchFamily="34" charset="-122"/>
                <a:cs typeface="Cambria" pitchFamily="34" charset="-120"/>
              </a:rPr>
              <a:t>Validation, CRUD &amp; Error Handling</a:t>
            </a:r>
            <a:endParaRPr lang="en-US" sz="3200" dirty="0"/>
          </a:p>
        </p:txBody>
      </p:sp>
      <p:pic>
        <p:nvPicPr>
          <p:cNvPr id="3" name="Image 0" descr="/home/claude/deck/img/register.png">    </p:cNvPr>
          <p:cNvPicPr>
            <a:picLocks noChangeAspect="1"/>
          </p:cNvPicPr>
          <p:nvPr/>
        </p:nvPicPr>
        <p:blipFill>
          <a:blip r:embed="rId1"/>
          <a:stretch>
            <a:fillRect/>
          </a:stretch>
        </p:blipFill>
        <p:spPr>
          <a:xfrm>
            <a:off x="457200" y="1143000"/>
            <a:ext cx="1485850" cy="3017520"/>
          </a:xfrm>
          <a:prstGeom prst="rect">
            <a:avLst/>
          </a:prstGeom>
        </p:spPr>
      </p:pic>
      <p:sp>
        <p:nvSpPr>
          <p:cNvPr id="4" name="Text 1"/>
          <p:cNvSpPr txBox="1"/>
          <p:nvPr/>
        </p:nvSpPr>
        <p:spPr>
          <a:xfrm>
            <a:off x="274320" y="4297680"/>
            <a:ext cx="1851610" cy="320040"/>
          </a:xfrm>
          <a:prstGeom prst="rect">
            <a:avLst/>
          </a:prstGeom>
          <a:noFill/>
          <a:ln/>
        </p:spPr>
        <p:txBody>
          <a:bodyPr wrap="square" lIns="0" tIns="0" rIns="0" bIns="0" rtlCol="0" anchor="ctr"/>
          <a:lstStyle/>
          <a:p>
            <a:pPr algn="ctr" indent="0" marL="0">
              <a:buNone/>
            </a:pPr>
            <a:r>
              <a:rPr lang="en-US" sz="1300" b="1" dirty="0">
                <a:solidFill>
                  <a:srgbClr val="4527A0"/>
                </a:solidFill>
                <a:latin typeface="Calibri" pitchFamily="34" charset="0"/>
                <a:ea typeface="Calibri" pitchFamily="34" charset="-122"/>
                <a:cs typeface="Calibri" pitchFamily="34" charset="-120"/>
              </a:rPr>
              <a:t>Form validation</a:t>
            </a:r>
            <a:endParaRPr lang="en-US" sz="1300" dirty="0"/>
          </a:p>
        </p:txBody>
      </p:sp>
      <p:pic>
        <p:nvPicPr>
          <p:cNvPr id="5" name="Image 1" descr="/home/claude/deck/img/form.png">    </p:cNvPr>
          <p:cNvPicPr>
            <a:picLocks noChangeAspect="1"/>
          </p:cNvPicPr>
          <p:nvPr/>
        </p:nvPicPr>
        <p:blipFill>
          <a:blip r:embed="rId2"/>
          <a:stretch>
            <a:fillRect/>
          </a:stretch>
        </p:blipFill>
        <p:spPr>
          <a:xfrm>
            <a:off x="2705117" y="1143000"/>
            <a:ext cx="1485850" cy="3017520"/>
          </a:xfrm>
          <a:prstGeom prst="rect">
            <a:avLst/>
          </a:prstGeom>
        </p:spPr>
      </p:pic>
      <p:sp>
        <p:nvSpPr>
          <p:cNvPr id="6" name="Text 2"/>
          <p:cNvSpPr txBox="1"/>
          <p:nvPr/>
        </p:nvSpPr>
        <p:spPr>
          <a:xfrm>
            <a:off x="2522237" y="4297680"/>
            <a:ext cx="1851610" cy="320040"/>
          </a:xfrm>
          <a:prstGeom prst="rect">
            <a:avLst/>
          </a:prstGeom>
          <a:noFill/>
          <a:ln/>
        </p:spPr>
        <p:txBody>
          <a:bodyPr wrap="square" lIns="0" tIns="0" rIns="0" bIns="0" rtlCol="0" anchor="ctr"/>
          <a:lstStyle/>
          <a:p>
            <a:pPr algn="ctr" indent="0" marL="0">
              <a:buNone/>
            </a:pPr>
            <a:r>
              <a:rPr lang="en-US" sz="1300" b="1" dirty="0">
                <a:solidFill>
                  <a:srgbClr val="4527A0"/>
                </a:solidFill>
                <a:latin typeface="Calibri" pitchFamily="34" charset="0"/>
                <a:ea typeface="Calibri" pitchFamily="34" charset="-122"/>
                <a:cs typeface="Calibri" pitchFamily="34" charset="-120"/>
              </a:rPr>
              <a:t>Add / edit painting</a:t>
            </a:r>
            <a:endParaRPr lang="en-US" sz="1300" dirty="0"/>
          </a:p>
        </p:txBody>
      </p:sp>
      <p:pic>
        <p:nvPicPr>
          <p:cNvPr id="7" name="Image 2" descr="/home/claude/deck/img/delete.png">    </p:cNvPr>
          <p:cNvPicPr>
            <a:picLocks noChangeAspect="1"/>
          </p:cNvPicPr>
          <p:nvPr/>
        </p:nvPicPr>
        <p:blipFill>
          <a:blip r:embed="rId3"/>
          <a:stretch>
            <a:fillRect/>
          </a:stretch>
        </p:blipFill>
        <p:spPr>
          <a:xfrm>
            <a:off x="4953033" y="1143000"/>
            <a:ext cx="1485850" cy="3017520"/>
          </a:xfrm>
          <a:prstGeom prst="rect">
            <a:avLst/>
          </a:prstGeom>
        </p:spPr>
      </p:pic>
      <p:sp>
        <p:nvSpPr>
          <p:cNvPr id="8" name="Text 3"/>
          <p:cNvSpPr txBox="1"/>
          <p:nvPr/>
        </p:nvSpPr>
        <p:spPr>
          <a:xfrm>
            <a:off x="4770153" y="4297680"/>
            <a:ext cx="1851610" cy="320040"/>
          </a:xfrm>
          <a:prstGeom prst="rect">
            <a:avLst/>
          </a:prstGeom>
          <a:noFill/>
          <a:ln/>
        </p:spPr>
        <p:txBody>
          <a:bodyPr wrap="square" lIns="0" tIns="0" rIns="0" bIns="0" rtlCol="0" anchor="ctr"/>
          <a:lstStyle/>
          <a:p>
            <a:pPr algn="ctr" indent="0" marL="0">
              <a:buNone/>
            </a:pPr>
            <a:r>
              <a:rPr lang="en-US" sz="1300" b="1" dirty="0">
                <a:solidFill>
                  <a:srgbClr val="4527A0"/>
                </a:solidFill>
                <a:latin typeface="Calibri" pitchFamily="34" charset="0"/>
                <a:ea typeface="Calibri" pitchFamily="34" charset="-122"/>
                <a:cs typeface="Calibri" pitchFamily="34" charset="-120"/>
              </a:rPr>
              <a:t>Delete confirmation</a:t>
            </a:r>
            <a:endParaRPr lang="en-US" sz="1300" dirty="0"/>
          </a:p>
        </p:txBody>
      </p:sp>
      <p:pic>
        <p:nvPicPr>
          <p:cNvPr id="9" name="Image 3" descr="/home/claude/deck/img/error_no_internet.png">    </p:cNvPr>
          <p:cNvPicPr>
            <a:picLocks noChangeAspect="1"/>
          </p:cNvPicPr>
          <p:nvPr/>
        </p:nvPicPr>
        <p:blipFill>
          <a:blip r:embed="rId4"/>
          <a:stretch>
            <a:fillRect/>
          </a:stretch>
        </p:blipFill>
        <p:spPr>
          <a:xfrm>
            <a:off x="7200950" y="1143000"/>
            <a:ext cx="1485850" cy="3017520"/>
          </a:xfrm>
          <a:prstGeom prst="rect">
            <a:avLst/>
          </a:prstGeom>
        </p:spPr>
      </p:pic>
      <p:sp>
        <p:nvSpPr>
          <p:cNvPr id="10" name="Text 4"/>
          <p:cNvSpPr txBox="1"/>
          <p:nvPr/>
        </p:nvSpPr>
        <p:spPr>
          <a:xfrm>
            <a:off x="7018070" y="4297680"/>
            <a:ext cx="1851610" cy="320040"/>
          </a:xfrm>
          <a:prstGeom prst="rect">
            <a:avLst/>
          </a:prstGeom>
          <a:noFill/>
          <a:ln/>
        </p:spPr>
        <p:txBody>
          <a:bodyPr wrap="square" lIns="0" tIns="0" rIns="0" bIns="0" rtlCol="0" anchor="ctr"/>
          <a:lstStyle/>
          <a:p>
            <a:pPr algn="ctr" indent="0" marL="0">
              <a:buNone/>
            </a:pPr>
            <a:r>
              <a:rPr lang="en-US" sz="1300" b="1" dirty="0">
                <a:solidFill>
                  <a:srgbClr val="4527A0"/>
                </a:solidFill>
                <a:latin typeface="Calibri" pitchFamily="34" charset="0"/>
                <a:ea typeface="Calibri" pitchFamily="34" charset="-122"/>
                <a:cs typeface="Calibri" pitchFamily="34" charset="-120"/>
              </a:rPr>
              <a:t>Offline error + Retry</a:t>
            </a:r>
            <a:endParaRPr lang="en-US" sz="1300" dirty="0"/>
          </a:p>
        </p:txBody>
      </p:sp>
      <p:sp>
        <p:nvSpPr>
          <p:cNvPr id="11" name="Text 5"/>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5F5A73"/>
                </a:solidFill>
                <a:latin typeface="Calibri" pitchFamily="34" charset="0"/>
                <a:ea typeface="Calibri" pitchFamily="34" charset="-122"/>
                <a:cs typeface="Calibri" pitchFamily="34" charset="-120"/>
              </a:rPr>
              <a:t>Artify  |  Mobile Development using Flutter</a:t>
            </a:r>
            <a:endParaRPr lang="en-US" sz="1000" dirty="0"/>
          </a:p>
        </p:txBody>
      </p:sp>
      <p:sp>
        <p:nvSpPr>
          <p:cNvPr id="12" name="Text 6"/>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5F5A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FC"/>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0F3B"/>
                </a:solidFill>
                <a:latin typeface="Cambria" pitchFamily="34" charset="0"/>
                <a:ea typeface="Cambria" pitchFamily="34" charset="-122"/>
                <a:cs typeface="Cambria" pitchFamily="34" charset="-120"/>
              </a:rPr>
              <a:t>System Architecture</a:t>
            </a:r>
            <a:endParaRPr lang="en-US" sz="3200" dirty="0"/>
          </a:p>
        </p:txBody>
      </p:sp>
      <p:sp>
        <p:nvSpPr>
          <p:cNvPr id="3" name="Shape 1"/>
          <p:cNvSpPr/>
          <p:nvPr/>
        </p:nvSpPr>
        <p:spPr>
          <a:xfrm>
            <a:off x="457200" y="1280160"/>
            <a:ext cx="1737360" cy="2514600"/>
          </a:xfrm>
          <a:prstGeom prst="roundRect">
            <a:avLst>
              <a:gd name="adj" fmla="val 6316"/>
            </a:avLst>
          </a:prstGeom>
          <a:solidFill>
            <a:srgbClr val="FFFFFF"/>
          </a:solidFill>
          <a:ln w="12700">
            <a:solidFill>
              <a:srgbClr val="D5C9EF"/>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1097280" y="1463040"/>
            <a:ext cx="457200" cy="457200"/>
          </a:xfrm>
          <a:prstGeom prst="ellipse">
            <a:avLst/>
          </a:prstGeom>
          <a:solidFill>
            <a:srgbClr val="4527A0"/>
          </a:solidFill>
          <a:ln w="12700">
            <a:solidFill>
              <a:srgbClr val="4527A0"/>
            </a:solidFill>
            <a:prstDash val="solid"/>
          </a:ln>
        </p:spPr>
      </p:sp>
      <p:pic>
        <p:nvPicPr>
          <p:cNvPr id="5" name="Image 0" descr="preencoded.png">    </p:cNvPr>
          <p:cNvPicPr>
            <a:picLocks noChangeAspect="1"/>
          </p:cNvPicPr>
          <p:nvPr/>
        </p:nvPicPr>
        <p:blipFill>
          <a:blip r:embed="rId1"/>
          <a:stretch>
            <a:fillRect/>
          </a:stretch>
        </p:blipFill>
        <p:spPr>
          <a:xfrm>
            <a:off x="1211580" y="1577340"/>
            <a:ext cx="228600" cy="228600"/>
          </a:xfrm>
          <a:prstGeom prst="rect">
            <a:avLst/>
          </a:prstGeom>
        </p:spPr>
      </p:pic>
      <p:sp>
        <p:nvSpPr>
          <p:cNvPr id="6" name="Text 3"/>
          <p:cNvSpPr txBox="1"/>
          <p:nvPr/>
        </p:nvSpPr>
        <p:spPr>
          <a:xfrm>
            <a:off x="457200" y="2011680"/>
            <a:ext cx="1737360" cy="365760"/>
          </a:xfrm>
          <a:prstGeom prst="rect">
            <a:avLst/>
          </a:prstGeom>
          <a:noFill/>
          <a:ln/>
        </p:spPr>
        <p:txBody>
          <a:bodyPr wrap="square" lIns="0" tIns="0" rIns="0" bIns="0" rtlCol="0" anchor="ctr"/>
          <a:lstStyle/>
          <a:p>
            <a:pPr algn="ctr" indent="0" marL="0">
              <a:buNone/>
            </a:pPr>
            <a:r>
              <a:rPr lang="en-US" sz="1700" b="1" dirty="0">
                <a:solidFill>
                  <a:srgbClr val="1B0F3B"/>
                </a:solidFill>
                <a:latin typeface="Cambria" pitchFamily="34" charset="0"/>
                <a:ea typeface="Cambria" pitchFamily="34" charset="-122"/>
                <a:cs typeface="Cambria" pitchFamily="34" charset="-120"/>
              </a:rPr>
              <a:t>UI</a:t>
            </a:r>
            <a:endParaRPr lang="en-US" sz="1700" dirty="0"/>
          </a:p>
        </p:txBody>
      </p:sp>
      <p:sp>
        <p:nvSpPr>
          <p:cNvPr id="7" name="Text 4"/>
          <p:cNvSpPr txBox="1"/>
          <p:nvPr/>
        </p:nvSpPr>
        <p:spPr>
          <a:xfrm>
            <a:off x="548640" y="2423160"/>
            <a:ext cx="1554480" cy="1280160"/>
          </a:xfrm>
          <a:prstGeom prst="rect">
            <a:avLst/>
          </a:prstGeom>
          <a:noFill/>
          <a:ln/>
        </p:spPr>
        <p:txBody>
          <a:bodyPr wrap="square" lIns="0" tIns="0" rIns="0" bIns="0" rtlCol="0" anchor="t"/>
          <a:lstStyle/>
          <a:p>
            <a:pPr algn="ctr" indent="0" marL="0">
              <a:buNone/>
            </a:pPr>
            <a:r>
              <a:rPr lang="en-US" sz="1200" dirty="0">
                <a:solidFill>
                  <a:srgbClr val="231B3D"/>
                </a:solidFill>
                <a:latin typeface="Calibri" pitchFamily="34" charset="0"/>
                <a:ea typeface="Calibri" pitchFamily="34" charset="-122"/>
                <a:cs typeface="Calibri" pitchFamily="34" charset="-120"/>
              </a:rPr>
              <a:t>Screens &amp; widgets</a:t>
            </a:r>
            <a:endParaRPr lang="en-US" sz="1200" dirty="0"/>
          </a:p>
          <a:p>
            <a:pPr algn="ctr" indent="0" marL="0">
              <a:buNone/>
            </a:pPr>
            <a:r>
              <a:rPr lang="en-US" sz="1200" dirty="0">
                <a:solidFill>
                  <a:srgbClr val="231B3D"/>
                </a:solidFill>
                <a:latin typeface="Calibri" pitchFamily="34" charset="0"/>
                <a:ea typeface="Calibri" pitchFamily="34" charset="-122"/>
                <a:cs typeface="Calibri" pitchFamily="34" charset="-120"/>
              </a:rPr>
              <a:t>Named routes</a:t>
            </a:r>
            <a:endParaRPr lang="en-US" sz="1200" dirty="0"/>
          </a:p>
          <a:p>
            <a:pPr algn="ctr" indent="0" marL="0">
              <a:buNone/>
            </a:pPr>
            <a:r>
              <a:rPr lang="en-US" sz="1200" dirty="0">
                <a:solidFill>
                  <a:srgbClr val="231B3D"/>
                </a:solidFill>
                <a:latin typeface="Calibri" pitchFamily="34" charset="0"/>
                <a:ea typeface="Calibri" pitchFamily="34" charset="-122"/>
                <a:cs typeface="Calibri" pitchFamily="34" charset="-120"/>
              </a:rPr>
              <a:t>AuthGate</a:t>
            </a:r>
            <a:endParaRPr lang="en-US" sz="1200" dirty="0"/>
          </a:p>
        </p:txBody>
      </p:sp>
      <p:sp>
        <p:nvSpPr>
          <p:cNvPr id="8" name="Shape 5"/>
          <p:cNvSpPr/>
          <p:nvPr/>
        </p:nvSpPr>
        <p:spPr>
          <a:xfrm>
            <a:off x="2651760" y="1280160"/>
            <a:ext cx="1737360" cy="2514600"/>
          </a:xfrm>
          <a:prstGeom prst="roundRect">
            <a:avLst>
              <a:gd name="adj" fmla="val 6316"/>
            </a:avLst>
          </a:prstGeom>
          <a:solidFill>
            <a:srgbClr val="FFFFFF"/>
          </a:solidFill>
          <a:ln w="12700">
            <a:solidFill>
              <a:srgbClr val="D5C9EF"/>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3291840" y="1463040"/>
            <a:ext cx="457200" cy="457200"/>
          </a:xfrm>
          <a:prstGeom prst="ellipse">
            <a:avLst/>
          </a:prstGeom>
          <a:solidFill>
            <a:srgbClr val="4527A0"/>
          </a:solidFill>
          <a:ln w="12700">
            <a:solidFill>
              <a:srgbClr val="4527A0"/>
            </a:solidFill>
            <a:prstDash val="solid"/>
          </a:ln>
        </p:spPr>
      </p:sp>
      <p:pic>
        <p:nvPicPr>
          <p:cNvPr id="10" name="Image 1" descr="preencoded.png">    </p:cNvPr>
          <p:cNvPicPr>
            <a:picLocks noChangeAspect="1"/>
          </p:cNvPicPr>
          <p:nvPr/>
        </p:nvPicPr>
        <p:blipFill>
          <a:blip r:embed="rId2"/>
          <a:stretch>
            <a:fillRect/>
          </a:stretch>
        </p:blipFill>
        <p:spPr>
          <a:xfrm>
            <a:off x="3406140" y="1577340"/>
            <a:ext cx="228600" cy="228600"/>
          </a:xfrm>
          <a:prstGeom prst="rect">
            <a:avLst/>
          </a:prstGeom>
        </p:spPr>
      </p:pic>
      <p:sp>
        <p:nvSpPr>
          <p:cNvPr id="11" name="Text 7"/>
          <p:cNvSpPr txBox="1"/>
          <p:nvPr/>
        </p:nvSpPr>
        <p:spPr>
          <a:xfrm>
            <a:off x="2651760" y="2011680"/>
            <a:ext cx="1737360" cy="365760"/>
          </a:xfrm>
          <a:prstGeom prst="rect">
            <a:avLst/>
          </a:prstGeom>
          <a:noFill/>
          <a:ln/>
        </p:spPr>
        <p:txBody>
          <a:bodyPr wrap="square" lIns="0" tIns="0" rIns="0" bIns="0" rtlCol="0" anchor="ctr"/>
          <a:lstStyle/>
          <a:p>
            <a:pPr algn="ctr" indent="0" marL="0">
              <a:buNone/>
            </a:pPr>
            <a:r>
              <a:rPr lang="en-US" sz="1700" b="1" dirty="0">
                <a:solidFill>
                  <a:srgbClr val="1B0F3B"/>
                </a:solidFill>
                <a:latin typeface="Cambria" pitchFamily="34" charset="0"/>
                <a:ea typeface="Cambria" pitchFamily="34" charset="-122"/>
                <a:cs typeface="Cambria" pitchFamily="34" charset="-120"/>
              </a:rPr>
              <a:t>Providers</a:t>
            </a:r>
            <a:endParaRPr lang="en-US" sz="1700" dirty="0"/>
          </a:p>
        </p:txBody>
      </p:sp>
      <p:sp>
        <p:nvSpPr>
          <p:cNvPr id="12" name="Text 8"/>
          <p:cNvSpPr txBox="1"/>
          <p:nvPr/>
        </p:nvSpPr>
        <p:spPr>
          <a:xfrm>
            <a:off x="2743200" y="2423160"/>
            <a:ext cx="1554480" cy="1280160"/>
          </a:xfrm>
          <a:prstGeom prst="rect">
            <a:avLst/>
          </a:prstGeom>
          <a:noFill/>
          <a:ln/>
        </p:spPr>
        <p:txBody>
          <a:bodyPr wrap="square" lIns="0" tIns="0" rIns="0" bIns="0" rtlCol="0" anchor="t"/>
          <a:lstStyle/>
          <a:p>
            <a:pPr algn="ctr" indent="0" marL="0">
              <a:buNone/>
            </a:pPr>
            <a:r>
              <a:rPr lang="en-US" sz="1200" dirty="0">
                <a:solidFill>
                  <a:srgbClr val="231B3D"/>
                </a:solidFill>
                <a:latin typeface="Calibri" pitchFamily="34" charset="0"/>
                <a:ea typeface="Calibri" pitchFamily="34" charset="-122"/>
                <a:cs typeface="Calibri" pitchFamily="34" charset="-120"/>
              </a:rPr>
              <a:t>Auth, Painting, Cart, Theme</a:t>
            </a:r>
            <a:endParaRPr lang="en-US" sz="1200" dirty="0"/>
          </a:p>
          <a:p>
            <a:pPr algn="ctr" indent="0" marL="0">
              <a:buNone/>
            </a:pPr>
            <a:r>
              <a:rPr lang="en-US" sz="1200" dirty="0">
                <a:solidFill>
                  <a:srgbClr val="231B3D"/>
                </a:solidFill>
                <a:latin typeface="Calibri" pitchFamily="34" charset="0"/>
                <a:ea typeface="Calibri" pitchFamily="34" charset="-122"/>
                <a:cs typeface="Calibri" pitchFamily="34" charset="-120"/>
              </a:rPr>
              <a:t>(ChangeNotifier)</a:t>
            </a:r>
            <a:endParaRPr lang="en-US" sz="1200" dirty="0"/>
          </a:p>
        </p:txBody>
      </p:sp>
      <p:sp>
        <p:nvSpPr>
          <p:cNvPr id="13" name="Shape 9"/>
          <p:cNvSpPr/>
          <p:nvPr/>
        </p:nvSpPr>
        <p:spPr>
          <a:xfrm>
            <a:off x="4846320" y="1280160"/>
            <a:ext cx="1737360" cy="2514600"/>
          </a:xfrm>
          <a:prstGeom prst="roundRect">
            <a:avLst>
              <a:gd name="adj" fmla="val 6316"/>
            </a:avLst>
          </a:prstGeom>
          <a:solidFill>
            <a:srgbClr val="FFFFFF"/>
          </a:solidFill>
          <a:ln w="12700">
            <a:solidFill>
              <a:srgbClr val="D5C9EF"/>
            </a:solidFill>
            <a:prstDash val="solid"/>
          </a:ln>
          <a:effectLst>
            <a:outerShdw sx="100000" sy="100000" kx="0" ky="0" algn="bl" rotWithShape="0" blurRad="101600" dist="25400" dir="5400000">
              <a:srgbClr val="000000">
                <a:alpha val="12000"/>
              </a:srgbClr>
            </a:outerShdw>
          </a:effectLst>
        </p:spPr>
      </p:sp>
      <p:sp>
        <p:nvSpPr>
          <p:cNvPr id="14" name="Shape 10"/>
          <p:cNvSpPr/>
          <p:nvPr/>
        </p:nvSpPr>
        <p:spPr>
          <a:xfrm>
            <a:off x="5486400" y="1463040"/>
            <a:ext cx="457200" cy="457200"/>
          </a:xfrm>
          <a:prstGeom prst="ellipse">
            <a:avLst/>
          </a:prstGeom>
          <a:solidFill>
            <a:srgbClr val="4527A0"/>
          </a:solidFill>
          <a:ln w="12700">
            <a:solidFill>
              <a:srgbClr val="4527A0"/>
            </a:solidFill>
            <a:prstDash val="solid"/>
          </a:ln>
        </p:spPr>
      </p:sp>
      <p:pic>
        <p:nvPicPr>
          <p:cNvPr id="15" name="Image 2" descr="preencoded.png">    </p:cNvPr>
          <p:cNvPicPr>
            <a:picLocks noChangeAspect="1"/>
          </p:cNvPicPr>
          <p:nvPr/>
        </p:nvPicPr>
        <p:blipFill>
          <a:blip r:embed="rId3"/>
          <a:stretch>
            <a:fillRect/>
          </a:stretch>
        </p:blipFill>
        <p:spPr>
          <a:xfrm>
            <a:off x="5600700" y="1577340"/>
            <a:ext cx="228600" cy="228600"/>
          </a:xfrm>
          <a:prstGeom prst="rect">
            <a:avLst/>
          </a:prstGeom>
        </p:spPr>
      </p:pic>
      <p:sp>
        <p:nvSpPr>
          <p:cNvPr id="16" name="Text 11"/>
          <p:cNvSpPr txBox="1"/>
          <p:nvPr/>
        </p:nvSpPr>
        <p:spPr>
          <a:xfrm>
            <a:off x="4846320" y="2011680"/>
            <a:ext cx="1737360" cy="365760"/>
          </a:xfrm>
          <a:prstGeom prst="rect">
            <a:avLst/>
          </a:prstGeom>
          <a:noFill/>
          <a:ln/>
        </p:spPr>
        <p:txBody>
          <a:bodyPr wrap="square" lIns="0" tIns="0" rIns="0" bIns="0" rtlCol="0" anchor="ctr"/>
          <a:lstStyle/>
          <a:p>
            <a:pPr algn="ctr" indent="0" marL="0">
              <a:buNone/>
            </a:pPr>
            <a:r>
              <a:rPr lang="en-US" sz="1700" b="1" dirty="0">
                <a:solidFill>
                  <a:srgbClr val="1B0F3B"/>
                </a:solidFill>
                <a:latin typeface="Cambria" pitchFamily="34" charset="0"/>
                <a:ea typeface="Cambria" pitchFamily="34" charset="-122"/>
                <a:cs typeface="Cambria" pitchFamily="34" charset="-120"/>
              </a:rPr>
              <a:t>Services</a:t>
            </a:r>
            <a:endParaRPr lang="en-US" sz="1700" dirty="0"/>
          </a:p>
        </p:txBody>
      </p:sp>
      <p:sp>
        <p:nvSpPr>
          <p:cNvPr id="17" name="Text 12"/>
          <p:cNvSpPr txBox="1"/>
          <p:nvPr/>
        </p:nvSpPr>
        <p:spPr>
          <a:xfrm>
            <a:off x="4937760" y="2423160"/>
            <a:ext cx="1554480" cy="1280160"/>
          </a:xfrm>
          <a:prstGeom prst="rect">
            <a:avLst/>
          </a:prstGeom>
          <a:noFill/>
          <a:ln/>
        </p:spPr>
        <p:txBody>
          <a:bodyPr wrap="square" lIns="0" tIns="0" rIns="0" bIns="0" rtlCol="0" anchor="t"/>
          <a:lstStyle/>
          <a:p>
            <a:pPr algn="ctr" indent="0" marL="0">
              <a:buNone/>
            </a:pPr>
            <a:r>
              <a:rPr lang="en-US" sz="1200" dirty="0">
                <a:solidFill>
                  <a:srgbClr val="231B3D"/>
                </a:solidFill>
                <a:latin typeface="Calibri" pitchFamily="34" charset="0"/>
                <a:ea typeface="Calibri" pitchFamily="34" charset="-122"/>
                <a:cs typeface="Calibri" pitchFamily="34" charset="-120"/>
              </a:rPr>
              <a:t>supabase_service</a:t>
            </a:r>
            <a:endParaRPr lang="en-US" sz="1200" dirty="0"/>
          </a:p>
          <a:p>
            <a:pPr algn="ctr" indent="0" marL="0">
              <a:buNone/>
            </a:pPr>
            <a:r>
              <a:rPr lang="en-US" sz="1200" dirty="0">
                <a:solidFill>
                  <a:srgbClr val="231B3D"/>
                </a:solidFill>
                <a:latin typeface="Calibri" pitchFamily="34" charset="0"/>
                <a:ea typeface="Calibri" pitchFamily="34" charset="-122"/>
                <a:cs typeface="Calibri" pitchFamily="34" charset="-120"/>
              </a:rPr>
              <a:t>art_api_service</a:t>
            </a:r>
            <a:endParaRPr lang="en-US" sz="1200" dirty="0"/>
          </a:p>
          <a:p>
            <a:pPr algn="ctr" indent="0" marL="0">
              <a:buNone/>
            </a:pPr>
            <a:r>
              <a:rPr lang="en-US" sz="1200" dirty="0">
                <a:solidFill>
                  <a:srgbClr val="231B3D"/>
                </a:solidFill>
                <a:latin typeface="Calibri" pitchFamily="34" charset="0"/>
                <a:ea typeface="Calibri" pitchFamily="34" charset="-122"/>
                <a:cs typeface="Calibri" pitchFamily="34" charset="-120"/>
              </a:rPr>
              <a:t>local_storage</a:t>
            </a:r>
            <a:endParaRPr lang="en-US" sz="1200" dirty="0"/>
          </a:p>
        </p:txBody>
      </p:sp>
      <p:sp>
        <p:nvSpPr>
          <p:cNvPr id="18" name="Shape 13"/>
          <p:cNvSpPr/>
          <p:nvPr/>
        </p:nvSpPr>
        <p:spPr>
          <a:xfrm>
            <a:off x="2221992" y="2537460"/>
            <a:ext cx="402336" cy="0"/>
          </a:xfrm>
          <a:prstGeom prst="line">
            <a:avLst/>
          </a:prstGeom>
          <a:noFill/>
          <a:ln w="28575">
            <a:solidFill>
              <a:srgbClr val="4527A0"/>
            </a:solidFill>
            <a:prstDash val="solid"/>
            <a:tailEnd type="triangle"/>
          </a:ln>
        </p:spPr>
      </p:sp>
      <p:sp>
        <p:nvSpPr>
          <p:cNvPr id="19" name="Shape 14"/>
          <p:cNvSpPr/>
          <p:nvPr/>
        </p:nvSpPr>
        <p:spPr>
          <a:xfrm>
            <a:off x="4416552" y="2537460"/>
            <a:ext cx="402336" cy="0"/>
          </a:xfrm>
          <a:prstGeom prst="line">
            <a:avLst/>
          </a:prstGeom>
          <a:noFill/>
          <a:ln w="28575">
            <a:solidFill>
              <a:srgbClr val="4527A0"/>
            </a:solidFill>
            <a:prstDash val="solid"/>
            <a:tailEnd type="triangle"/>
          </a:ln>
        </p:spPr>
      </p:sp>
      <p:sp>
        <p:nvSpPr>
          <p:cNvPr id="20" name="Shape 15"/>
          <p:cNvSpPr/>
          <p:nvPr/>
        </p:nvSpPr>
        <p:spPr>
          <a:xfrm>
            <a:off x="7040880" y="1280160"/>
            <a:ext cx="1645920" cy="758952"/>
          </a:xfrm>
          <a:prstGeom prst="roundRect">
            <a:avLst>
              <a:gd name="adj" fmla="val 12048"/>
            </a:avLst>
          </a:prstGeom>
          <a:solidFill>
            <a:srgbClr val="4527A0"/>
          </a:solidFill>
          <a:ln w="12700">
            <a:solidFill>
              <a:srgbClr val="4527A0"/>
            </a:solidFill>
            <a:prstDash val="solid"/>
          </a:ln>
        </p:spPr>
      </p:sp>
      <p:sp>
        <p:nvSpPr>
          <p:cNvPr id="21" name="Text 16"/>
          <p:cNvSpPr txBox="1"/>
          <p:nvPr/>
        </p:nvSpPr>
        <p:spPr>
          <a:xfrm>
            <a:off x="7086600" y="1280160"/>
            <a:ext cx="1554480" cy="7589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Supabase</a:t>
            </a:r>
            <a:endParaRPr lang="en-US" sz="1200" dirty="0"/>
          </a:p>
          <a:p>
            <a:pPr algn="ctr" indent="0" marL="0">
              <a:buNone/>
            </a:pPr>
            <a:r>
              <a:rPr lang="en-US" sz="1050" dirty="0">
                <a:solidFill>
                  <a:srgbClr val="DCD2F5"/>
                </a:solidFill>
                <a:latin typeface="Calibri" pitchFamily="34" charset="0"/>
                <a:ea typeface="Calibri" pitchFamily="34" charset="-122"/>
                <a:cs typeface="Calibri" pitchFamily="34" charset="-120"/>
              </a:rPr>
              <a:t>Auth + Postgres + RLS</a:t>
            </a:r>
            <a:endParaRPr lang="en-US" sz="1200" dirty="0"/>
          </a:p>
        </p:txBody>
      </p:sp>
      <p:sp>
        <p:nvSpPr>
          <p:cNvPr id="22" name="Shape 17"/>
          <p:cNvSpPr/>
          <p:nvPr/>
        </p:nvSpPr>
        <p:spPr>
          <a:xfrm>
            <a:off x="6611112" y="1659636"/>
            <a:ext cx="402336" cy="0"/>
          </a:xfrm>
          <a:prstGeom prst="line">
            <a:avLst/>
          </a:prstGeom>
          <a:noFill/>
          <a:ln w="28575">
            <a:solidFill>
              <a:srgbClr val="4527A0"/>
            </a:solidFill>
            <a:prstDash val="solid"/>
            <a:tailEnd type="triangle"/>
          </a:ln>
        </p:spPr>
      </p:sp>
      <p:sp>
        <p:nvSpPr>
          <p:cNvPr id="23" name="Shape 18"/>
          <p:cNvSpPr/>
          <p:nvPr/>
        </p:nvSpPr>
        <p:spPr>
          <a:xfrm>
            <a:off x="7040880" y="2176272"/>
            <a:ext cx="1645920" cy="758952"/>
          </a:xfrm>
          <a:prstGeom prst="roundRect">
            <a:avLst>
              <a:gd name="adj" fmla="val 12048"/>
            </a:avLst>
          </a:prstGeom>
          <a:solidFill>
            <a:srgbClr val="4527A0"/>
          </a:solidFill>
          <a:ln w="12700">
            <a:solidFill>
              <a:srgbClr val="4527A0"/>
            </a:solidFill>
            <a:prstDash val="solid"/>
          </a:ln>
        </p:spPr>
      </p:sp>
      <p:sp>
        <p:nvSpPr>
          <p:cNvPr id="24" name="Text 19"/>
          <p:cNvSpPr txBox="1"/>
          <p:nvPr/>
        </p:nvSpPr>
        <p:spPr>
          <a:xfrm>
            <a:off x="7086600" y="2176272"/>
            <a:ext cx="1554480" cy="7589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SharedPreferences</a:t>
            </a:r>
            <a:endParaRPr lang="en-US" sz="1200" dirty="0"/>
          </a:p>
          <a:p>
            <a:pPr algn="ctr" indent="0" marL="0">
              <a:buNone/>
            </a:pPr>
            <a:r>
              <a:rPr lang="en-US" sz="1050" dirty="0">
                <a:solidFill>
                  <a:srgbClr val="DCD2F5"/>
                </a:solidFill>
                <a:latin typeface="Calibri" pitchFamily="34" charset="0"/>
                <a:ea typeface="Calibri" pitchFamily="34" charset="-122"/>
                <a:cs typeface="Calibri" pitchFamily="34" charset="-120"/>
              </a:rPr>
              <a:t>Dark mode, likes, cart</a:t>
            </a:r>
            <a:endParaRPr lang="en-US" sz="1200" dirty="0"/>
          </a:p>
        </p:txBody>
      </p:sp>
      <p:sp>
        <p:nvSpPr>
          <p:cNvPr id="25" name="Shape 20"/>
          <p:cNvSpPr/>
          <p:nvPr/>
        </p:nvSpPr>
        <p:spPr>
          <a:xfrm>
            <a:off x="6611112" y="2555748"/>
            <a:ext cx="402336" cy="0"/>
          </a:xfrm>
          <a:prstGeom prst="line">
            <a:avLst/>
          </a:prstGeom>
          <a:noFill/>
          <a:ln w="28575">
            <a:solidFill>
              <a:srgbClr val="4527A0"/>
            </a:solidFill>
            <a:prstDash val="solid"/>
            <a:tailEnd type="triangle"/>
          </a:ln>
        </p:spPr>
      </p:sp>
      <p:sp>
        <p:nvSpPr>
          <p:cNvPr id="26" name="Shape 21"/>
          <p:cNvSpPr/>
          <p:nvPr/>
        </p:nvSpPr>
        <p:spPr>
          <a:xfrm>
            <a:off x="7040880" y="3072384"/>
            <a:ext cx="1645920" cy="758952"/>
          </a:xfrm>
          <a:prstGeom prst="roundRect">
            <a:avLst>
              <a:gd name="adj" fmla="val 12048"/>
            </a:avLst>
          </a:prstGeom>
          <a:solidFill>
            <a:srgbClr val="4527A0"/>
          </a:solidFill>
          <a:ln w="12700">
            <a:solidFill>
              <a:srgbClr val="4527A0"/>
            </a:solidFill>
            <a:prstDash val="solid"/>
          </a:ln>
        </p:spPr>
      </p:sp>
      <p:sp>
        <p:nvSpPr>
          <p:cNvPr id="27" name="Text 22"/>
          <p:cNvSpPr txBox="1"/>
          <p:nvPr/>
        </p:nvSpPr>
        <p:spPr>
          <a:xfrm>
            <a:off x="7086600" y="3072384"/>
            <a:ext cx="1554480" cy="7589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Art Institute API</a:t>
            </a:r>
            <a:endParaRPr lang="en-US" sz="1200" dirty="0"/>
          </a:p>
          <a:p>
            <a:pPr algn="ctr" indent="0" marL="0">
              <a:buNone/>
            </a:pPr>
            <a:r>
              <a:rPr lang="en-US" sz="1050" dirty="0">
                <a:solidFill>
                  <a:srgbClr val="DCD2F5"/>
                </a:solidFill>
                <a:latin typeface="Calibri" pitchFamily="34" charset="0"/>
                <a:ea typeface="Calibri" pitchFamily="34" charset="-122"/>
                <a:cs typeface="Calibri" pitchFamily="34" charset="-120"/>
              </a:rPr>
              <a:t>REST (http)</a:t>
            </a:r>
            <a:endParaRPr lang="en-US" sz="1200" dirty="0"/>
          </a:p>
        </p:txBody>
      </p:sp>
      <p:sp>
        <p:nvSpPr>
          <p:cNvPr id="28" name="Shape 23"/>
          <p:cNvSpPr/>
          <p:nvPr/>
        </p:nvSpPr>
        <p:spPr>
          <a:xfrm>
            <a:off x="6611112" y="3451860"/>
            <a:ext cx="402336" cy="0"/>
          </a:xfrm>
          <a:prstGeom prst="line">
            <a:avLst/>
          </a:prstGeom>
          <a:noFill/>
          <a:ln w="28575">
            <a:solidFill>
              <a:srgbClr val="4527A0"/>
            </a:solidFill>
            <a:prstDash val="solid"/>
            <a:tailEnd type="triangle"/>
          </a:ln>
        </p:spPr>
      </p:sp>
      <p:sp>
        <p:nvSpPr>
          <p:cNvPr id="29" name="Shape 24"/>
          <p:cNvSpPr/>
          <p:nvPr/>
        </p:nvSpPr>
        <p:spPr>
          <a:xfrm>
            <a:off x="457200" y="4023360"/>
            <a:ext cx="8229600" cy="640080"/>
          </a:xfrm>
          <a:prstGeom prst="roundRect">
            <a:avLst>
              <a:gd name="adj" fmla="val 14286"/>
            </a:avLst>
          </a:prstGeom>
          <a:solidFill>
            <a:srgbClr val="EDE7F9"/>
          </a:solidFill>
          <a:ln w="12700">
            <a:solidFill>
              <a:srgbClr val="EDE7F9"/>
            </a:solidFill>
            <a:prstDash val="solid"/>
          </a:ln>
        </p:spPr>
      </p:sp>
      <p:sp>
        <p:nvSpPr>
          <p:cNvPr id="30" name="Text 25"/>
          <p:cNvSpPr txBox="1"/>
          <p:nvPr/>
        </p:nvSpPr>
        <p:spPr>
          <a:xfrm>
            <a:off x="640080" y="4023360"/>
            <a:ext cx="7863840" cy="640080"/>
          </a:xfrm>
          <a:prstGeom prst="rect">
            <a:avLst/>
          </a:prstGeom>
          <a:noFill/>
          <a:ln/>
        </p:spPr>
        <p:txBody>
          <a:bodyPr wrap="square" lIns="0" tIns="0" rIns="0" bIns="0" rtlCol="0" anchor="ctr"/>
          <a:lstStyle/>
          <a:p>
            <a:pPr indent="0" marL="0">
              <a:buNone/>
            </a:pPr>
            <a:r>
              <a:rPr lang="en-US" sz="1300" dirty="0">
                <a:solidFill>
                  <a:srgbClr val="231B3D"/>
                </a:solidFill>
                <a:latin typeface="Calibri" pitchFamily="34" charset="0"/>
                <a:ea typeface="Calibri" pitchFamily="34" charset="-122"/>
                <a:cs typeface="Calibri" pitchFamily="34" charset="-120"/>
              </a:rPr>
              <a:t>Code layout: models  |  services  |  providers  |  screens  |  widgets  |  utils  |  config</a:t>
            </a:r>
            <a:endParaRPr lang="en-US" sz="1300" dirty="0"/>
          </a:p>
        </p:txBody>
      </p:sp>
      <p:sp>
        <p:nvSpPr>
          <p:cNvPr id="31" name="Text 26"/>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5F5A73"/>
                </a:solidFill>
                <a:latin typeface="Calibri" pitchFamily="34" charset="0"/>
                <a:ea typeface="Calibri" pitchFamily="34" charset="-122"/>
                <a:cs typeface="Calibri" pitchFamily="34" charset="-120"/>
              </a:rPr>
              <a:t>Artify  |  Mobile Development using Flutter</a:t>
            </a:r>
            <a:endParaRPr lang="en-US" sz="1000" dirty="0"/>
          </a:p>
        </p:txBody>
      </p:sp>
      <p:sp>
        <p:nvSpPr>
          <p:cNvPr id="32" name="Text 27"/>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5F5A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FC"/>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0F3B"/>
                </a:solidFill>
                <a:latin typeface="Cambria" pitchFamily="34" charset="0"/>
                <a:ea typeface="Cambria" pitchFamily="34" charset="-122"/>
                <a:cs typeface="Cambria" pitchFamily="34" charset="-120"/>
              </a:rPr>
              <a:t>Live Demonstration</a:t>
            </a:r>
            <a:endParaRPr lang="en-US" sz="3200" dirty="0"/>
          </a:p>
        </p:txBody>
      </p:sp>
      <p:sp>
        <p:nvSpPr>
          <p:cNvPr id="3" name="Shape 1"/>
          <p:cNvSpPr/>
          <p:nvPr/>
        </p:nvSpPr>
        <p:spPr>
          <a:xfrm>
            <a:off x="457200" y="1216152"/>
            <a:ext cx="384048" cy="384048"/>
          </a:xfrm>
          <a:prstGeom prst="ellipse">
            <a:avLst/>
          </a:prstGeom>
          <a:solidFill>
            <a:srgbClr val="4527A0"/>
          </a:solidFill>
          <a:ln w="12700">
            <a:solidFill>
              <a:srgbClr val="4527A0"/>
            </a:solidFill>
            <a:prstDash val="solid"/>
          </a:ln>
        </p:spPr>
      </p:sp>
      <p:sp>
        <p:nvSpPr>
          <p:cNvPr id="4" name="Text 2"/>
          <p:cNvSpPr txBox="1"/>
          <p:nvPr/>
        </p:nvSpPr>
        <p:spPr>
          <a:xfrm>
            <a:off x="457200" y="12161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05840" y="1188720"/>
            <a:ext cx="4846320" cy="438912"/>
          </a:xfrm>
          <a:prstGeom prst="rect">
            <a:avLst/>
          </a:prstGeom>
          <a:noFill/>
          <a:ln/>
        </p:spPr>
        <p:txBody>
          <a:bodyPr wrap="square" lIns="0" tIns="0" rIns="0" bIns="0" rtlCol="0" anchor="ctr"/>
          <a:lstStyle/>
          <a:p>
            <a:pPr indent="0" marL="0">
              <a:buNone/>
            </a:pPr>
            <a:r>
              <a:rPr lang="en-US" sz="1400" dirty="0">
                <a:solidFill>
                  <a:srgbClr val="231B3D"/>
                </a:solidFill>
                <a:latin typeface="Calibri" pitchFamily="34" charset="0"/>
                <a:ea typeface="Calibri" pitchFamily="34" charset="-122"/>
                <a:cs typeface="Calibri" pitchFamily="34" charset="-120"/>
              </a:rPr>
              <a:t>Register a new account, then log in (validation on wrong input)</a:t>
            </a:r>
            <a:endParaRPr lang="en-US" sz="1400" dirty="0"/>
          </a:p>
        </p:txBody>
      </p:sp>
      <p:sp>
        <p:nvSpPr>
          <p:cNvPr id="6" name="Shape 4"/>
          <p:cNvSpPr/>
          <p:nvPr/>
        </p:nvSpPr>
        <p:spPr>
          <a:xfrm>
            <a:off x="457200" y="1719072"/>
            <a:ext cx="384048" cy="384048"/>
          </a:xfrm>
          <a:prstGeom prst="ellipse">
            <a:avLst/>
          </a:prstGeom>
          <a:solidFill>
            <a:srgbClr val="4527A0"/>
          </a:solidFill>
          <a:ln w="12700">
            <a:solidFill>
              <a:srgbClr val="4527A0"/>
            </a:solidFill>
            <a:prstDash val="solid"/>
          </a:ln>
        </p:spPr>
      </p:sp>
      <p:sp>
        <p:nvSpPr>
          <p:cNvPr id="7" name="Text 5"/>
          <p:cNvSpPr txBox="1"/>
          <p:nvPr/>
        </p:nvSpPr>
        <p:spPr>
          <a:xfrm>
            <a:off x="457200"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005840" y="1691640"/>
            <a:ext cx="4846320" cy="438912"/>
          </a:xfrm>
          <a:prstGeom prst="rect">
            <a:avLst/>
          </a:prstGeom>
          <a:noFill/>
          <a:ln/>
        </p:spPr>
        <p:txBody>
          <a:bodyPr wrap="square" lIns="0" tIns="0" rIns="0" bIns="0" rtlCol="0" anchor="ctr"/>
          <a:lstStyle/>
          <a:p>
            <a:pPr indent="0" marL="0">
              <a:buNone/>
            </a:pPr>
            <a:r>
              <a:rPr lang="en-US" sz="1400" dirty="0">
                <a:solidFill>
                  <a:srgbClr val="231B3D"/>
                </a:solidFill>
                <a:latin typeface="Calibri" pitchFamily="34" charset="0"/>
                <a:ea typeface="Calibri" pitchFamily="34" charset="-122"/>
                <a:cs typeface="Calibri" pitchFamily="34" charset="-120"/>
              </a:rPr>
              <a:t>Browse the gallery, search and like a painting</a:t>
            </a:r>
            <a:endParaRPr lang="en-US" sz="1400" dirty="0"/>
          </a:p>
        </p:txBody>
      </p:sp>
      <p:sp>
        <p:nvSpPr>
          <p:cNvPr id="9" name="Shape 7"/>
          <p:cNvSpPr/>
          <p:nvPr/>
        </p:nvSpPr>
        <p:spPr>
          <a:xfrm>
            <a:off x="457200" y="2221992"/>
            <a:ext cx="384048" cy="384048"/>
          </a:xfrm>
          <a:prstGeom prst="ellipse">
            <a:avLst/>
          </a:prstGeom>
          <a:solidFill>
            <a:srgbClr val="4527A0"/>
          </a:solidFill>
          <a:ln w="12700">
            <a:solidFill>
              <a:srgbClr val="4527A0"/>
            </a:solidFill>
            <a:prstDash val="solid"/>
          </a:ln>
        </p:spPr>
      </p:sp>
      <p:sp>
        <p:nvSpPr>
          <p:cNvPr id="10" name="Text 8"/>
          <p:cNvSpPr txBox="1"/>
          <p:nvPr/>
        </p:nvSpPr>
        <p:spPr>
          <a:xfrm>
            <a:off x="457200" y="22219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005840" y="2194560"/>
            <a:ext cx="4846320" cy="438912"/>
          </a:xfrm>
          <a:prstGeom prst="rect">
            <a:avLst/>
          </a:prstGeom>
          <a:noFill/>
          <a:ln/>
        </p:spPr>
        <p:txBody>
          <a:bodyPr wrap="square" lIns="0" tIns="0" rIns="0" bIns="0" rtlCol="0" anchor="ctr"/>
          <a:lstStyle/>
          <a:p>
            <a:pPr indent="0" marL="0">
              <a:buNone/>
            </a:pPr>
            <a:r>
              <a:rPr lang="en-US" sz="1400" dirty="0">
                <a:solidFill>
                  <a:srgbClr val="231B3D"/>
                </a:solidFill>
                <a:latin typeface="Calibri" pitchFamily="34" charset="0"/>
                <a:ea typeface="Calibri" pitchFamily="34" charset="-122"/>
                <a:cs typeface="Calibri" pitchFamily="34" charset="-120"/>
              </a:rPr>
              <a:t>Open details and add a comment</a:t>
            </a:r>
            <a:endParaRPr lang="en-US" sz="1400" dirty="0"/>
          </a:p>
        </p:txBody>
      </p:sp>
      <p:sp>
        <p:nvSpPr>
          <p:cNvPr id="12" name="Shape 10"/>
          <p:cNvSpPr/>
          <p:nvPr/>
        </p:nvSpPr>
        <p:spPr>
          <a:xfrm>
            <a:off x="457200" y="2724912"/>
            <a:ext cx="384048" cy="384048"/>
          </a:xfrm>
          <a:prstGeom prst="ellipse">
            <a:avLst/>
          </a:prstGeom>
          <a:solidFill>
            <a:srgbClr val="4527A0"/>
          </a:solidFill>
          <a:ln w="12700">
            <a:solidFill>
              <a:srgbClr val="4527A0"/>
            </a:solidFill>
            <a:prstDash val="solid"/>
          </a:ln>
        </p:spPr>
      </p:sp>
      <p:sp>
        <p:nvSpPr>
          <p:cNvPr id="13" name="Text 11"/>
          <p:cNvSpPr txBox="1"/>
          <p:nvPr/>
        </p:nvSpPr>
        <p:spPr>
          <a:xfrm>
            <a:off x="45720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1005840" y="2697480"/>
            <a:ext cx="4846320" cy="438912"/>
          </a:xfrm>
          <a:prstGeom prst="rect">
            <a:avLst/>
          </a:prstGeom>
          <a:noFill/>
          <a:ln/>
        </p:spPr>
        <p:txBody>
          <a:bodyPr wrap="square" lIns="0" tIns="0" rIns="0" bIns="0" rtlCol="0" anchor="ctr"/>
          <a:lstStyle/>
          <a:p>
            <a:pPr indent="0" marL="0">
              <a:buNone/>
            </a:pPr>
            <a:r>
              <a:rPr lang="en-US" sz="1400" dirty="0">
                <a:solidFill>
                  <a:srgbClr val="231B3D"/>
                </a:solidFill>
                <a:latin typeface="Calibri" pitchFamily="34" charset="0"/>
                <a:ea typeface="Calibri" pitchFamily="34" charset="-122"/>
                <a:cs typeface="Calibri" pitchFamily="34" charset="-120"/>
              </a:rPr>
              <a:t>Add to cart and view the total</a:t>
            </a:r>
            <a:endParaRPr lang="en-US" sz="1400" dirty="0"/>
          </a:p>
        </p:txBody>
      </p:sp>
      <p:sp>
        <p:nvSpPr>
          <p:cNvPr id="15" name="Shape 13"/>
          <p:cNvSpPr/>
          <p:nvPr/>
        </p:nvSpPr>
        <p:spPr>
          <a:xfrm>
            <a:off x="457200" y="3227832"/>
            <a:ext cx="384048" cy="384048"/>
          </a:xfrm>
          <a:prstGeom prst="ellipse">
            <a:avLst/>
          </a:prstGeom>
          <a:solidFill>
            <a:srgbClr val="4527A0"/>
          </a:solidFill>
          <a:ln w="12700">
            <a:solidFill>
              <a:srgbClr val="4527A0"/>
            </a:solidFill>
            <a:prstDash val="solid"/>
          </a:ln>
        </p:spPr>
      </p:sp>
      <p:sp>
        <p:nvSpPr>
          <p:cNvPr id="16" name="Text 14"/>
          <p:cNvSpPr txBox="1"/>
          <p:nvPr/>
        </p:nvSpPr>
        <p:spPr>
          <a:xfrm>
            <a:off x="457200" y="3227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15"/>
          <p:cNvSpPr txBox="1"/>
          <p:nvPr/>
        </p:nvSpPr>
        <p:spPr>
          <a:xfrm>
            <a:off x="1005840" y="3200400"/>
            <a:ext cx="4846320" cy="438912"/>
          </a:xfrm>
          <a:prstGeom prst="rect">
            <a:avLst/>
          </a:prstGeom>
          <a:noFill/>
          <a:ln/>
        </p:spPr>
        <p:txBody>
          <a:bodyPr wrap="square" lIns="0" tIns="0" rIns="0" bIns="0" rtlCol="0" anchor="ctr"/>
          <a:lstStyle/>
          <a:p>
            <a:pPr indent="0" marL="0">
              <a:buNone/>
            </a:pPr>
            <a:r>
              <a:rPr lang="en-US" sz="1400" dirty="0">
                <a:solidFill>
                  <a:srgbClr val="231B3D"/>
                </a:solidFill>
                <a:latin typeface="Calibri" pitchFamily="34" charset="0"/>
                <a:ea typeface="Calibri" pitchFamily="34" charset="-122"/>
                <a:cs typeface="Calibri" pitchFamily="34" charset="-120"/>
              </a:rPr>
              <a:t>Add, edit and delete a painting (CRUD)</a:t>
            </a:r>
            <a:endParaRPr lang="en-US" sz="1400" dirty="0"/>
          </a:p>
        </p:txBody>
      </p:sp>
      <p:sp>
        <p:nvSpPr>
          <p:cNvPr id="18" name="Shape 16"/>
          <p:cNvSpPr/>
          <p:nvPr/>
        </p:nvSpPr>
        <p:spPr>
          <a:xfrm>
            <a:off x="457200" y="3730752"/>
            <a:ext cx="384048" cy="384048"/>
          </a:xfrm>
          <a:prstGeom prst="ellipse">
            <a:avLst/>
          </a:prstGeom>
          <a:solidFill>
            <a:srgbClr val="4527A0"/>
          </a:solidFill>
          <a:ln w="12700">
            <a:solidFill>
              <a:srgbClr val="4527A0"/>
            </a:solidFill>
            <a:prstDash val="solid"/>
          </a:ln>
        </p:spPr>
      </p:sp>
      <p:sp>
        <p:nvSpPr>
          <p:cNvPr id="19" name="Text 17"/>
          <p:cNvSpPr txBox="1"/>
          <p:nvPr/>
        </p:nvSpPr>
        <p:spPr>
          <a:xfrm>
            <a:off x="457200" y="37307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18"/>
          <p:cNvSpPr txBox="1"/>
          <p:nvPr/>
        </p:nvSpPr>
        <p:spPr>
          <a:xfrm>
            <a:off x="1005840" y="3703320"/>
            <a:ext cx="4846320" cy="438912"/>
          </a:xfrm>
          <a:prstGeom prst="rect">
            <a:avLst/>
          </a:prstGeom>
          <a:noFill/>
          <a:ln/>
        </p:spPr>
        <p:txBody>
          <a:bodyPr wrap="square" lIns="0" tIns="0" rIns="0" bIns="0" rtlCol="0" anchor="ctr"/>
          <a:lstStyle/>
          <a:p>
            <a:pPr indent="0" marL="0">
              <a:buNone/>
            </a:pPr>
            <a:r>
              <a:rPr lang="en-US" sz="1400" dirty="0">
                <a:solidFill>
                  <a:srgbClr val="231B3D"/>
                </a:solidFill>
                <a:latin typeface="Calibri" pitchFamily="34" charset="0"/>
                <a:ea typeface="Calibri" pitchFamily="34" charset="-122"/>
                <a:cs typeface="Calibri" pitchFamily="34" charset="-120"/>
              </a:rPr>
              <a:t>Discover: search the public API and import an artwork</a:t>
            </a:r>
            <a:endParaRPr lang="en-US" sz="1400" dirty="0"/>
          </a:p>
        </p:txBody>
      </p:sp>
      <p:sp>
        <p:nvSpPr>
          <p:cNvPr id="21" name="Shape 19"/>
          <p:cNvSpPr/>
          <p:nvPr/>
        </p:nvSpPr>
        <p:spPr>
          <a:xfrm>
            <a:off x="457200" y="4233672"/>
            <a:ext cx="384048" cy="384048"/>
          </a:xfrm>
          <a:prstGeom prst="ellipse">
            <a:avLst/>
          </a:prstGeom>
          <a:solidFill>
            <a:srgbClr val="4527A0"/>
          </a:solidFill>
          <a:ln w="12700">
            <a:solidFill>
              <a:srgbClr val="4527A0"/>
            </a:solidFill>
            <a:prstDash val="solid"/>
          </a:ln>
        </p:spPr>
      </p:sp>
      <p:sp>
        <p:nvSpPr>
          <p:cNvPr id="22" name="Text 20"/>
          <p:cNvSpPr txBox="1"/>
          <p:nvPr/>
        </p:nvSpPr>
        <p:spPr>
          <a:xfrm>
            <a:off x="457200" y="4233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3" name="Text 21"/>
          <p:cNvSpPr txBox="1"/>
          <p:nvPr/>
        </p:nvSpPr>
        <p:spPr>
          <a:xfrm>
            <a:off x="1005840" y="4206240"/>
            <a:ext cx="4846320" cy="438912"/>
          </a:xfrm>
          <a:prstGeom prst="rect">
            <a:avLst/>
          </a:prstGeom>
          <a:noFill/>
          <a:ln/>
        </p:spPr>
        <p:txBody>
          <a:bodyPr wrap="square" lIns="0" tIns="0" rIns="0" bIns="0" rtlCol="0" anchor="ctr"/>
          <a:lstStyle/>
          <a:p>
            <a:pPr indent="0" marL="0">
              <a:buNone/>
            </a:pPr>
            <a:r>
              <a:rPr lang="en-US" sz="1400" dirty="0">
                <a:solidFill>
                  <a:srgbClr val="231B3D"/>
                </a:solidFill>
                <a:latin typeface="Calibri" pitchFamily="34" charset="0"/>
                <a:ea typeface="Calibri" pitchFamily="34" charset="-122"/>
                <a:cs typeface="Calibri" pitchFamily="34" charset="-120"/>
              </a:rPr>
              <a:t>Toggle dark mode, restart the app, then show the offline error state</a:t>
            </a:r>
            <a:endParaRPr lang="en-US" sz="1400" dirty="0"/>
          </a:p>
        </p:txBody>
      </p:sp>
      <p:sp>
        <p:nvSpPr>
          <p:cNvPr id="24" name="Shape 22"/>
          <p:cNvSpPr/>
          <p:nvPr/>
        </p:nvSpPr>
        <p:spPr>
          <a:xfrm>
            <a:off x="6263640" y="868680"/>
            <a:ext cx="2148840" cy="3840480"/>
          </a:xfrm>
          <a:prstGeom prst="roundRect">
            <a:avLst>
              <a:gd name="adj" fmla="val 10638"/>
            </a:avLst>
          </a:prstGeom>
          <a:solidFill>
            <a:srgbClr val="EDE7F9"/>
          </a:solidFill>
          <a:ln w="12700">
            <a:solidFill>
              <a:srgbClr val="EDE7F9"/>
            </a:solidFill>
            <a:prstDash val="solid"/>
          </a:ln>
        </p:spPr>
      </p:sp>
      <p:pic>
        <p:nvPicPr>
          <p:cNvPr id="25" name="Image 0" descr="/home/claude/deck/img/dark.png">    </p:cNvPr>
          <p:cNvPicPr>
            <a:picLocks noChangeAspect="1"/>
          </p:cNvPicPr>
          <p:nvPr/>
        </p:nvPicPr>
        <p:blipFill>
          <a:blip r:embed="rId1"/>
          <a:stretch>
            <a:fillRect/>
          </a:stretch>
        </p:blipFill>
        <p:spPr>
          <a:xfrm>
            <a:off x="6400800" y="960120"/>
            <a:ext cx="1801031" cy="3657600"/>
          </a:xfrm>
          <a:prstGeom prst="rect">
            <a:avLst/>
          </a:prstGeom>
        </p:spPr>
      </p:pic>
      <p:sp>
        <p:nvSpPr>
          <p:cNvPr id="26" name="Text 23"/>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5F5A73"/>
                </a:solidFill>
                <a:latin typeface="Calibri" pitchFamily="34" charset="0"/>
                <a:ea typeface="Calibri" pitchFamily="34" charset="-122"/>
                <a:cs typeface="Calibri" pitchFamily="34" charset="-120"/>
              </a:rPr>
              <a:t>Artify  |  Mobile Development using Flutter</a:t>
            </a:r>
            <a:endParaRPr lang="en-US" sz="1000" dirty="0"/>
          </a:p>
        </p:txBody>
      </p:sp>
      <p:sp>
        <p:nvSpPr>
          <p:cNvPr id="27" name="Text 24"/>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5F5A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0F3B"/>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pic>
        <p:nvPicPr>
          <p:cNvPr id="4" name="Image 0" descr="preencoded.png">    </p:cNvPr>
          <p:cNvPicPr>
            <a:picLocks noChangeAspect="1"/>
          </p:cNvPicPr>
          <p:nvPr/>
        </p:nvPicPr>
        <p:blipFill>
          <a:blip r:embed="rId1"/>
          <a:stretch>
            <a:fillRect/>
          </a:stretch>
        </p:blipFill>
        <p:spPr>
          <a:xfrm>
            <a:off x="548640" y="3154680"/>
            <a:ext cx="365760" cy="365760"/>
          </a:xfrm>
          <a:prstGeom prst="rect">
            <a:avLst/>
          </a:prstGeom>
        </p:spPr>
      </p:pic>
      <p:sp>
        <p:nvSpPr>
          <p:cNvPr id="6" name="Text 3"/>
          <p:cNvSpPr txBox="1"/>
          <p:nvPr/>
        </p:nvSpPr>
        <p:spPr>
          <a:xfrm>
            <a:off x="548640" y="3749040"/>
            <a:ext cx="5303520" cy="320040"/>
          </a:xfrm>
          <a:prstGeom prst="rect">
            <a:avLst/>
          </a:prstGeom>
          <a:noFill/>
          <a:ln/>
        </p:spPr>
        <p:txBody>
          <a:bodyPr wrap="square" lIns="0" tIns="0" rIns="0" bIns="0" rtlCol="0" anchor="ctr"/>
          <a:lstStyle/>
          <a:p>
            <a:pPr indent="0" marL="0">
              <a:buNone/>
            </a:pPr>
            <a:r>
              <a:rPr lang="en-US" sz="1400" dirty="0">
                <a:solidFill>
                  <a:srgbClr val="D9CFF2"/>
                </a:solidFill>
                <a:latin typeface="Calibri" pitchFamily="34" charset="0"/>
                <a:ea typeface="Calibri" pitchFamily="34" charset="-122"/>
                <a:cs typeface="Calibri" pitchFamily="34" charset="-120"/>
              </a:rPr>
              <a:t>Sgdh Elnemr</a:t>
            </a:r>
            <a:endParaRPr lang="en-US" sz="1400" dirty="0"/>
          </a:p>
        </p:txBody>
      </p:sp>
      <p:pic>
        <p:nvPicPr>
          <p:cNvPr id="7" name="Image 1" descr="/home/claude/deck/img/dark.png">    </p:cNvPr>
          <p:cNvPicPr>
            <a:picLocks noChangeAspect="1"/>
          </p:cNvPicPr>
          <p:nvPr/>
        </p:nvPicPr>
        <p:blipFill>
          <a:blip r:embed="rId2"/>
          <a:stretch>
            <a:fillRect/>
          </a:stretch>
        </p:blipFill>
        <p:spPr>
          <a:xfrm>
            <a:off x="6355080" y="457200"/>
            <a:ext cx="2071185" cy="4206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Artify - Digital Art Gallery &amp; Shop</dc:title>
  <dc:subject>PptxGenJS Presentation</dc:subject>
  <dc:creator>Sgdh Elnemr</dc:creator>
  <cp:lastModifiedBy>Sgdh Elnemr</cp:lastModifiedBy>
  <cp:revision>1</cp:revision>
  <dcterms:created xsi:type="dcterms:W3CDTF">2026-09-30T04:38:45Z</dcterms:created>
  <dcterms:modified xsi:type="dcterms:W3CDTF">2026-09-30T04:38:45Z</dcterms:modified>
</cp:coreProperties>
</file>